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 de configuração do sistema de chamados Mendas Studio: bot de hooks no Teams como SSOT, baseado no PR.COM.001.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modelo: hoje o canal oficial é Forms; aqui o foco migra para o bot no Teams como SSOT, com automações de hooks dirigindo todo o ciclo.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quatro blocos Microsoft 365 e como os hooks os conectam num pipeline único.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cinco categorias de esforço definem o prazo. Corte às 16h: depois disso, o SLA inicia no próximo dia útil.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esteira de produção em sete etapas. Triagem não conta SLA até o briefing estar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três regras que protegem o SLA: aprovação 24h, On Hold após 2 dias, ajustes em 2 dias.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oito hooks que compõem o bot. Cada um é um fluxo do Power Automate disparado por um gatilho.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 of Done: o chamado só fecha e o SLA só encerra quando os cinco itens estão cumpridos.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fluxo de urgência: sinalizado no card, validado via Teams, reprioriza a fila da área.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passo a passo de implantação em seis movimentos, do canal do Teams ao go-live.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plano de implantação: 5 ciclos de 10 sprints cada. Cada ciclo entrega uma camada funcional do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Ciclo 1 — Fundação: base no Teams, intake bot e SSOT.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Ciclo 2 — SLA Engine: categorias, timers e corte 16h.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Ciclo 3 — Esteira e Aprovação: Planner, On Hold e ciclo de ajustes.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Ciclo 4 — Conclusão e Vitrine: DoD e o calendário editorial automático.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Ciclo 5 — Inteligência e Escala: urgências, métricas, governança e rollout.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playbooks operacionais que o time usa no dia a dia, um por situação crítica.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e próximo passo: piloto com uma concessão e go-live.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5F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573000" y="-1524000"/>
            <a:ext cx="7239000" cy="7239000"/>
          </a:xfrm>
          <a:prstGeom prst="ellipse">
            <a:avLst/>
          </a:prstGeom>
          <a:ln w="190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668250" y="7048500"/>
            <a:ext cx="5334000" cy="5334000"/>
          </a:xfrm>
          <a:prstGeom prst="ellipse">
            <a:avLst/>
          </a:prstGeom>
          <a:ln w="190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8250" y="1143000"/>
            <a:ext cx="6858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11430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5B5FC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2114550" y="1333500"/>
            <a:ext cx="25914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FFFFFF">
                    <a:alpha val="92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MENDAS STUDIO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8250" y="3038773"/>
            <a:ext cx="173926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28" kern="0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GUIA DE CONFIGURAÇÃO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238250" y="3565823"/>
            <a:ext cx="16285845" cy="224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850" b="1" spc="-88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 de Chamados via Teams</a:t>
            </a:r>
            <a:endParaRPr lang="en-US" sz="8850" dirty="0"/>
          </a:p>
        </p:txBody>
      </p:sp>
      <p:sp>
        <p:nvSpPr>
          <p:cNvPr id="9" name="Text 7"/>
          <p:cNvSpPr/>
          <p:nvPr/>
        </p:nvSpPr>
        <p:spPr>
          <a:xfrm>
            <a:off x="1238250" y="6092528"/>
            <a:ext cx="4759747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>
                    <a:alpha val="86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bot de </a:t>
            </a:r>
            <a:pPr algn="l" indent="0" marL="0">
              <a:lnSpc>
                <a:spcPct val="140000"/>
              </a:lnSpc>
              <a:buNone/>
            </a:pPr>
            <a:r>
              <a:rPr lang="en-US" sz="2250" i="1" dirty="0">
                <a:solidFill>
                  <a:srgbClr val="FFFFFF">
                    <a:alpha val="86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hooks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>
                    <a:alpha val="86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sistema de chamados — SLA, esteira de produção e vitrine editorial automatizados.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38250" y="8902700"/>
            <a:ext cx="4180523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baseado em PR.COM.001 — Comunicação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5286375" y="8902700"/>
            <a:ext cx="18484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5642670" y="8902700"/>
            <a:ext cx="83631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REV. 00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6650435" y="8902700"/>
            <a:ext cx="18484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7006729" y="8902700"/>
            <a:ext cx="2508379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ciclos × 10 sprints</a:t>
            </a:r>
            <a:endParaRPr lang="en-US" sz="14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14400"/>
            <a:ext cx="3048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5FC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619250" y="914400"/>
            <a:ext cx="141675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9AA0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MODELO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059609" y="1031875"/>
            <a:ext cx="13990141" cy="19050"/>
          </a:xfrm>
          <a:prstGeom prst="rect">
            <a:avLst/>
          </a:prstGeom>
          <a:gradFill rotWithShape="1">
            <a:gsLst>
              <a:gs pos="0">
                <a:srgbClr val="E2E4EA">
                  <a:alpha val="100000"/>
                </a:srgbClr>
              </a:gs>
              <a:gs pos="100000">
                <a:srgbClr val="E2E4EA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1238250" y="1301750"/>
            <a:ext cx="8667798" cy="131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Teams deixa de ser conversa e vira o </a:t>
            </a:r>
            <a:pPr algn="l"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5B5F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canal oficial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238250" y="3039070"/>
            <a:ext cx="7762875" cy="2181225"/>
          </a:xfrm>
          <a:prstGeom prst="roundRect">
            <a:avLst>
              <a:gd name="adj" fmla="val 6987"/>
            </a:avLst>
          </a:prstGeom>
          <a:solidFill>
            <a:srgbClr val="F6F7F9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25600" y="3407371"/>
            <a:ext cx="7686993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7" kern="0" dirty="0">
                <a:solidFill>
                  <a:srgbClr val="C431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ANTES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1625600" y="3775670"/>
            <a:ext cx="76869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Demandas soltas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625600" y="4251920"/>
            <a:ext cx="719782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Pedidos por e-mail, Teams e WhatsApp. Sem briefing mínimo, sem SLA confiável, sem rastreio. A área de comunicação vira balcão.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9286875" y="3039070"/>
            <a:ext cx="7762875" cy="2181225"/>
          </a:xfrm>
          <a:prstGeom prst="roundRect">
            <a:avLst>
              <a:gd name="adj" fmla="val 6987"/>
            </a:avLst>
          </a:prstGeom>
          <a:solidFill>
            <a:srgbClr val="ECEBF9"/>
          </a:solidFill>
          <a:ln w="6350">
            <a:solidFill>
              <a:srgbClr val="C9C7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74225" y="3407371"/>
            <a:ext cx="7686993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7" kern="0" dirty="0">
                <a:solidFill>
                  <a:srgbClr val="1F8A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AGORA · MENDAS STUDIO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9674225" y="3775670"/>
            <a:ext cx="76869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494E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 de hooks = SSOT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9674225" y="4251920"/>
            <a:ext cx="719782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chamado entra por um card estruturado no Teams. O bot valida, registra, cronometra o SLA e publica a vitrine — sem intervenção manual.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1238250" y="8890000"/>
            <a:ext cx="1775718" cy="482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3200" y="9010650"/>
            <a:ext cx="1382018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Teams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3147318" y="8890000"/>
            <a:ext cx="2418656" cy="482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2268" y="9010650"/>
            <a:ext cx="2024956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Automate · hooks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5699324" y="8890000"/>
            <a:ext cx="1734245" cy="482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34274" y="9010650"/>
            <a:ext cx="134054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Planner · esteira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7566918" y="8890000"/>
            <a:ext cx="2484934" cy="482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01868" y="9010650"/>
            <a:ext cx="2091234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Lists · calendário editorial</a:t>
            </a:r>
            <a:endParaRPr lang="en-US" sz="14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14400"/>
            <a:ext cx="3048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5FC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619250" y="914400"/>
            <a:ext cx="185615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9AA0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ARQUITETURA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459063" y="1031875"/>
            <a:ext cx="13590687" cy="19050"/>
          </a:xfrm>
          <a:prstGeom prst="rect">
            <a:avLst/>
          </a:prstGeom>
          <a:gradFill rotWithShape="1">
            <a:gsLst>
              <a:gs pos="0">
                <a:srgbClr val="E2E4EA">
                  <a:alpha val="100000"/>
                </a:srgbClr>
              </a:gs>
              <a:gs pos="100000">
                <a:srgbClr val="E2E4EA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1238250" y="1301750"/>
            <a:ext cx="173926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Quatro blocos, um pipeline de hooks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238250" y="2416175"/>
            <a:ext cx="3438525" cy="314325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238250" y="5553075"/>
            <a:ext cx="3438525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8" name="Shape 6"/>
          <p:cNvSpPr/>
          <p:nvPr/>
        </p:nvSpPr>
        <p:spPr>
          <a:xfrm>
            <a:off x="1238250" y="2416175"/>
            <a:ext cx="3438525" cy="44450"/>
          </a:xfrm>
          <a:prstGeom prst="rect">
            <a:avLst/>
          </a:prstGeom>
          <a:solidFill>
            <a:srgbClr val="5B5FC7"/>
          </a:solidFill>
          <a:ln/>
        </p:spPr>
      </p:sp>
      <p:sp>
        <p:nvSpPr>
          <p:cNvPr id="9" name="Shape 7"/>
          <p:cNvSpPr/>
          <p:nvPr/>
        </p:nvSpPr>
        <p:spPr>
          <a:xfrm>
            <a:off x="1238250" y="2416175"/>
            <a:ext cx="9525" cy="3143250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10" name="Shape 8"/>
          <p:cNvSpPr/>
          <p:nvPr/>
        </p:nvSpPr>
        <p:spPr>
          <a:xfrm>
            <a:off x="4670425" y="2416175"/>
            <a:ext cx="9525" cy="3143250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11" name="Text 9"/>
          <p:cNvSpPr/>
          <p:nvPr/>
        </p:nvSpPr>
        <p:spPr>
          <a:xfrm>
            <a:off x="1511300" y="2784475"/>
            <a:ext cx="318166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1511300" y="3489325"/>
            <a:ext cx="3181668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Entrada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511300" y="3895725"/>
            <a:ext cx="318166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B5FC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Microsoft Teams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511300" y="4238625"/>
            <a:ext cx="2979198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 publica um Adaptive Card. Único canal oficial (SSOT) — captura briefing mínimo na origem.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38675" y="3771900"/>
            <a:ext cx="590550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B9BD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5191125" y="2416175"/>
            <a:ext cx="3438525" cy="314325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191125" y="5553075"/>
            <a:ext cx="3438525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18" name="Shape 16"/>
          <p:cNvSpPr/>
          <p:nvPr/>
        </p:nvSpPr>
        <p:spPr>
          <a:xfrm>
            <a:off x="5191125" y="2416175"/>
            <a:ext cx="3438525" cy="44450"/>
          </a:xfrm>
          <a:prstGeom prst="rect">
            <a:avLst/>
          </a:prstGeom>
          <a:solidFill>
            <a:srgbClr val="9061D6"/>
          </a:solidFill>
          <a:ln/>
        </p:spPr>
      </p:sp>
      <p:sp>
        <p:nvSpPr>
          <p:cNvPr id="19" name="Shape 17"/>
          <p:cNvSpPr/>
          <p:nvPr/>
        </p:nvSpPr>
        <p:spPr>
          <a:xfrm>
            <a:off x="5191125" y="2416175"/>
            <a:ext cx="9525" cy="3143250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20" name="Shape 18"/>
          <p:cNvSpPr/>
          <p:nvPr/>
        </p:nvSpPr>
        <p:spPr>
          <a:xfrm>
            <a:off x="8623300" y="2416175"/>
            <a:ext cx="9525" cy="3143250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21" name="Text 19"/>
          <p:cNvSpPr/>
          <p:nvPr/>
        </p:nvSpPr>
        <p:spPr>
          <a:xfrm>
            <a:off x="5464175" y="2784475"/>
            <a:ext cx="318166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</a:t>
            </a:r>
            <a:endParaRPr lang="en-US" sz="3150" dirty="0"/>
          </a:p>
        </p:txBody>
      </p:sp>
      <p:sp>
        <p:nvSpPr>
          <p:cNvPr id="22" name="Text 20"/>
          <p:cNvSpPr/>
          <p:nvPr/>
        </p:nvSpPr>
        <p:spPr>
          <a:xfrm>
            <a:off x="5464175" y="3489325"/>
            <a:ext cx="3181668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Automação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5464175" y="3895725"/>
            <a:ext cx="318166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906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Power Automate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5464175" y="4238625"/>
            <a:ext cx="2979198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Hooks disparam em cada evento: valida, registra, cronometra o SLA e notifica no Teams.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591550" y="3771900"/>
            <a:ext cx="590550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B9BD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550" dirty="0"/>
          </a:p>
        </p:txBody>
      </p:sp>
      <p:sp>
        <p:nvSpPr>
          <p:cNvPr id="26" name="Shape 24"/>
          <p:cNvSpPr/>
          <p:nvPr/>
        </p:nvSpPr>
        <p:spPr>
          <a:xfrm>
            <a:off x="9144000" y="2416175"/>
            <a:ext cx="3438525" cy="314325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9144000" y="5553075"/>
            <a:ext cx="3438525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28" name="Shape 26"/>
          <p:cNvSpPr/>
          <p:nvPr/>
        </p:nvSpPr>
        <p:spPr>
          <a:xfrm>
            <a:off x="9144000" y="2416175"/>
            <a:ext cx="3438525" cy="44450"/>
          </a:xfrm>
          <a:prstGeom prst="rect">
            <a:avLst/>
          </a:prstGeom>
          <a:solidFill>
            <a:srgbClr val="C8791A"/>
          </a:solidFill>
          <a:ln/>
        </p:spPr>
      </p:sp>
      <p:sp>
        <p:nvSpPr>
          <p:cNvPr id="29" name="Shape 27"/>
          <p:cNvSpPr/>
          <p:nvPr/>
        </p:nvSpPr>
        <p:spPr>
          <a:xfrm>
            <a:off x="9144000" y="2416175"/>
            <a:ext cx="9525" cy="3143250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30" name="Shape 28"/>
          <p:cNvSpPr/>
          <p:nvPr/>
        </p:nvSpPr>
        <p:spPr>
          <a:xfrm>
            <a:off x="12576175" y="2416175"/>
            <a:ext cx="9525" cy="3143250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31" name="Text 29"/>
          <p:cNvSpPr/>
          <p:nvPr/>
        </p:nvSpPr>
        <p:spPr>
          <a:xfrm>
            <a:off x="9417050" y="2784475"/>
            <a:ext cx="3181668" cy="5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▦</a:t>
            </a:r>
            <a:endParaRPr lang="en-US" sz="3150" dirty="0"/>
          </a:p>
        </p:txBody>
      </p:sp>
      <p:sp>
        <p:nvSpPr>
          <p:cNvPr id="32" name="Text 30"/>
          <p:cNvSpPr/>
          <p:nvPr/>
        </p:nvSpPr>
        <p:spPr>
          <a:xfrm>
            <a:off x="9417050" y="3514725"/>
            <a:ext cx="3181668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Esteira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9417050" y="3921125"/>
            <a:ext cx="318166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C879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Microsoft Planner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9417050" y="4264025"/>
            <a:ext cx="2979198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 por chamado, categorizado por esforço/concessão. Estados visíveis e prioridade.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2544425" y="3771900"/>
            <a:ext cx="590550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B9BD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550" dirty="0"/>
          </a:p>
        </p:txBody>
      </p:sp>
      <p:sp>
        <p:nvSpPr>
          <p:cNvPr id="36" name="Shape 34"/>
          <p:cNvSpPr/>
          <p:nvPr/>
        </p:nvSpPr>
        <p:spPr>
          <a:xfrm>
            <a:off x="13096875" y="2416175"/>
            <a:ext cx="3952875" cy="314325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13096875" y="5553075"/>
            <a:ext cx="3952875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38" name="Shape 36"/>
          <p:cNvSpPr/>
          <p:nvPr/>
        </p:nvSpPr>
        <p:spPr>
          <a:xfrm>
            <a:off x="13096875" y="2416175"/>
            <a:ext cx="3952875" cy="4445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39" name="Shape 37"/>
          <p:cNvSpPr/>
          <p:nvPr/>
        </p:nvSpPr>
        <p:spPr>
          <a:xfrm>
            <a:off x="13096875" y="2416175"/>
            <a:ext cx="9525" cy="3143250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40" name="Shape 38"/>
          <p:cNvSpPr/>
          <p:nvPr/>
        </p:nvSpPr>
        <p:spPr>
          <a:xfrm>
            <a:off x="17043400" y="2416175"/>
            <a:ext cx="9525" cy="3143250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41" name="Text 39"/>
          <p:cNvSpPr/>
          <p:nvPr/>
        </p:nvSpPr>
        <p:spPr>
          <a:xfrm>
            <a:off x="13369926" y="2784475"/>
            <a:ext cx="374745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🗓</a:t>
            </a:r>
            <a:endParaRPr lang="en-US" sz="3150" dirty="0"/>
          </a:p>
        </p:txBody>
      </p:sp>
      <p:sp>
        <p:nvSpPr>
          <p:cNvPr id="42" name="Text 40"/>
          <p:cNvSpPr/>
          <p:nvPr/>
        </p:nvSpPr>
        <p:spPr>
          <a:xfrm>
            <a:off x="13369926" y="3489325"/>
            <a:ext cx="3747453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Vitrine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13369926" y="3895725"/>
            <a:ext cx="374745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F8A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Microsoft Lists</a:t>
            </a:r>
            <a:endParaRPr lang="en-US" sz="1125" dirty="0"/>
          </a:p>
        </p:txBody>
      </p:sp>
      <p:sp>
        <p:nvSpPr>
          <p:cNvPr id="44" name="Text 42"/>
          <p:cNvSpPr/>
          <p:nvPr/>
        </p:nvSpPr>
        <p:spPr>
          <a:xfrm>
            <a:off x="13369926" y="4238625"/>
            <a:ext cx="3508978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 conclusão, gera o card do Calendário Editorial — transparência para gestores em tempo real.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1238250" y="5997575"/>
            <a:ext cx="15811500" cy="736600"/>
          </a:xfrm>
          <a:prstGeom prst="roundRect">
            <a:avLst>
              <a:gd name="adj" fmla="val 18103"/>
            </a:avLst>
          </a:prstGeom>
          <a:solidFill>
            <a:srgbClr val="23252B"/>
          </a:solidFill>
          <a:ln/>
        </p:spPr>
      </p:sp>
      <p:sp>
        <p:nvSpPr>
          <p:cNvPr id="46" name="Text 44"/>
          <p:cNvSpPr/>
          <p:nvPr/>
        </p:nvSpPr>
        <p:spPr>
          <a:xfrm>
            <a:off x="1562100" y="6267450"/>
            <a:ext cx="59442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46F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FLUXO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270820" y="6245225"/>
            <a:ext cx="9843939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D4DCE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intake → register → triagem → sla → approval → adjust → done → </a:t>
            </a:r>
            <a:pPr algn="l" indent="0" marL="0">
              <a:buNone/>
            </a:pPr>
            <a:r>
              <a:rPr lang="en-US" sz="1425" dirty="0">
                <a:solidFill>
                  <a:srgbClr val="46F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calendário editorial</a:t>
            </a:r>
            <a:endParaRPr lang="en-US" sz="14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14400"/>
            <a:ext cx="3048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5FC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619250" y="914400"/>
            <a:ext cx="38121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9AA0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MATRIZ DE SLA · DIAS ÚTEIS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237262" y="1031875"/>
            <a:ext cx="11812488" cy="19050"/>
          </a:xfrm>
          <a:prstGeom prst="rect">
            <a:avLst/>
          </a:prstGeom>
          <a:gradFill rotWithShape="1">
            <a:gsLst>
              <a:gs pos="0">
                <a:srgbClr val="E2E4EA">
                  <a:alpha val="100000"/>
                </a:srgbClr>
              </a:gs>
              <a:gs pos="100000">
                <a:srgbClr val="E2E4EA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1238250" y="1301750"/>
            <a:ext cx="17392650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categoria de esforço define o prazo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1238250" y="2185591"/>
            <a:ext cx="15811500" cy="971550"/>
          </a:xfrm>
          <a:prstGeom prst="roundRect">
            <a:avLst>
              <a:gd name="adj" fmla="val 11765"/>
            </a:avLst>
          </a:prstGeom>
          <a:solidFill>
            <a:srgbClr val="F6F7F9"/>
          </a:solidFill>
          <a:ln/>
        </p:spPr>
      </p:sp>
      <p:sp>
        <p:nvSpPr>
          <p:cNvPr id="7" name="Shape 5"/>
          <p:cNvSpPr/>
          <p:nvPr/>
        </p:nvSpPr>
        <p:spPr>
          <a:xfrm>
            <a:off x="1238250" y="3150791"/>
            <a:ext cx="15811500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8" name="Shape 6"/>
          <p:cNvSpPr/>
          <p:nvPr/>
        </p:nvSpPr>
        <p:spPr>
          <a:xfrm>
            <a:off x="1238250" y="2185591"/>
            <a:ext cx="15811500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9" name="Shape 7"/>
          <p:cNvSpPr/>
          <p:nvPr/>
        </p:nvSpPr>
        <p:spPr>
          <a:xfrm>
            <a:off x="1238250" y="2185591"/>
            <a:ext cx="57150" cy="971550"/>
          </a:xfrm>
          <a:prstGeom prst="rect">
            <a:avLst/>
          </a:prstGeom>
          <a:solidFill>
            <a:srgbClr val="8A8F9C"/>
          </a:solidFill>
          <a:ln/>
        </p:spPr>
      </p:sp>
      <p:sp>
        <p:nvSpPr>
          <p:cNvPr id="10" name="Shape 8"/>
          <p:cNvSpPr/>
          <p:nvPr/>
        </p:nvSpPr>
        <p:spPr>
          <a:xfrm>
            <a:off x="17043400" y="2185591"/>
            <a:ext cx="9525" cy="971550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11" name="Text 9"/>
          <p:cNvSpPr/>
          <p:nvPr/>
        </p:nvSpPr>
        <p:spPr>
          <a:xfrm>
            <a:off x="1562100" y="2382441"/>
            <a:ext cx="121920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8A8F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2d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2933700" y="2534245"/>
            <a:ext cx="5313948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Operacional / Distribuição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993162" y="2551311"/>
            <a:ext cx="9661892" cy="2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Fotos/vídeos prontos · comunicados em texto · vagas padrão · republicação institucional.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238250" y="3271441"/>
            <a:ext cx="15811500" cy="971550"/>
          </a:xfrm>
          <a:prstGeom prst="roundRect">
            <a:avLst>
              <a:gd name="adj" fmla="val 11765"/>
            </a:avLst>
          </a:prstGeom>
          <a:solidFill>
            <a:srgbClr val="F6F7F9"/>
          </a:solidFill>
          <a:ln/>
        </p:spPr>
      </p:sp>
      <p:sp>
        <p:nvSpPr>
          <p:cNvPr id="15" name="Shape 13"/>
          <p:cNvSpPr/>
          <p:nvPr/>
        </p:nvSpPr>
        <p:spPr>
          <a:xfrm>
            <a:off x="1238250" y="4236641"/>
            <a:ext cx="15811500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16" name="Shape 14"/>
          <p:cNvSpPr/>
          <p:nvPr/>
        </p:nvSpPr>
        <p:spPr>
          <a:xfrm>
            <a:off x="1238250" y="3271441"/>
            <a:ext cx="15811500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17" name="Shape 15"/>
          <p:cNvSpPr/>
          <p:nvPr/>
        </p:nvSpPr>
        <p:spPr>
          <a:xfrm>
            <a:off x="1238250" y="3271441"/>
            <a:ext cx="57150" cy="971550"/>
          </a:xfrm>
          <a:prstGeom prst="rect">
            <a:avLst/>
          </a:prstGeom>
          <a:solidFill>
            <a:srgbClr val="5B5FC7"/>
          </a:solidFill>
          <a:ln/>
        </p:spPr>
      </p:sp>
      <p:sp>
        <p:nvSpPr>
          <p:cNvPr id="18" name="Shape 16"/>
          <p:cNvSpPr/>
          <p:nvPr/>
        </p:nvSpPr>
        <p:spPr>
          <a:xfrm>
            <a:off x="17043400" y="3271441"/>
            <a:ext cx="9525" cy="971550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19" name="Text 17"/>
          <p:cNvSpPr/>
          <p:nvPr/>
        </p:nvSpPr>
        <p:spPr>
          <a:xfrm>
            <a:off x="1562100" y="3468291"/>
            <a:ext cx="121920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5B5FC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3d</a:t>
            </a:r>
            <a:endParaRPr lang="en-US" sz="3450" dirty="0"/>
          </a:p>
        </p:txBody>
      </p:sp>
      <p:sp>
        <p:nvSpPr>
          <p:cNvPr id="20" name="Text 18"/>
          <p:cNvSpPr/>
          <p:nvPr/>
        </p:nvSpPr>
        <p:spPr>
          <a:xfrm>
            <a:off x="2933700" y="3620095"/>
            <a:ext cx="5313948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Comunicação simples / Informativa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993162" y="3637161"/>
            <a:ext cx="9661892" cy="2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Peça única p/ redes · atualização em arte existente · release · pós-evento · post LinkedIn.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238250" y="4357291"/>
            <a:ext cx="15811500" cy="971550"/>
          </a:xfrm>
          <a:prstGeom prst="roundRect">
            <a:avLst>
              <a:gd name="adj" fmla="val 11765"/>
            </a:avLst>
          </a:prstGeom>
          <a:solidFill>
            <a:srgbClr val="F6F7F9"/>
          </a:solidFill>
          <a:ln/>
        </p:spPr>
      </p:sp>
      <p:sp>
        <p:nvSpPr>
          <p:cNvPr id="23" name="Shape 21"/>
          <p:cNvSpPr/>
          <p:nvPr/>
        </p:nvSpPr>
        <p:spPr>
          <a:xfrm>
            <a:off x="1238250" y="5322491"/>
            <a:ext cx="15811500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24" name="Shape 22"/>
          <p:cNvSpPr/>
          <p:nvPr/>
        </p:nvSpPr>
        <p:spPr>
          <a:xfrm>
            <a:off x="1238250" y="4357291"/>
            <a:ext cx="15811500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25" name="Shape 23"/>
          <p:cNvSpPr/>
          <p:nvPr/>
        </p:nvSpPr>
        <p:spPr>
          <a:xfrm>
            <a:off x="1238250" y="4357291"/>
            <a:ext cx="57150" cy="971550"/>
          </a:xfrm>
          <a:prstGeom prst="rect">
            <a:avLst/>
          </a:prstGeom>
          <a:solidFill>
            <a:srgbClr val="9061D6"/>
          </a:solidFill>
          <a:ln/>
        </p:spPr>
      </p:sp>
      <p:sp>
        <p:nvSpPr>
          <p:cNvPr id="26" name="Shape 24"/>
          <p:cNvSpPr/>
          <p:nvPr/>
        </p:nvSpPr>
        <p:spPr>
          <a:xfrm>
            <a:off x="17043400" y="4357291"/>
            <a:ext cx="9525" cy="971550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27" name="Text 25"/>
          <p:cNvSpPr/>
          <p:nvPr/>
        </p:nvSpPr>
        <p:spPr>
          <a:xfrm>
            <a:off x="1562100" y="4554141"/>
            <a:ext cx="121920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906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5d</a:t>
            </a:r>
            <a:endParaRPr lang="en-US" sz="3450" dirty="0"/>
          </a:p>
        </p:txBody>
      </p:sp>
      <p:sp>
        <p:nvSpPr>
          <p:cNvPr id="28" name="Text 26"/>
          <p:cNvSpPr/>
          <p:nvPr/>
        </p:nvSpPr>
        <p:spPr>
          <a:xfrm>
            <a:off x="2933700" y="4705945"/>
            <a:ext cx="5313948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Criação e Design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993162" y="4723011"/>
            <a:ext cx="9661892" cy="2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Banners/cartazes · design redes externas · marca em brindes/frota · id. visual de praças.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1238250" y="5443141"/>
            <a:ext cx="15811500" cy="971550"/>
          </a:xfrm>
          <a:prstGeom prst="roundRect">
            <a:avLst>
              <a:gd name="adj" fmla="val 11765"/>
            </a:avLst>
          </a:prstGeom>
          <a:solidFill>
            <a:srgbClr val="F6F7F9"/>
          </a:solidFill>
          <a:ln/>
        </p:spPr>
      </p:sp>
      <p:sp>
        <p:nvSpPr>
          <p:cNvPr id="31" name="Shape 29"/>
          <p:cNvSpPr/>
          <p:nvPr/>
        </p:nvSpPr>
        <p:spPr>
          <a:xfrm>
            <a:off x="1238250" y="6408341"/>
            <a:ext cx="15811500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32" name="Shape 30"/>
          <p:cNvSpPr/>
          <p:nvPr/>
        </p:nvSpPr>
        <p:spPr>
          <a:xfrm>
            <a:off x="1238250" y="5443141"/>
            <a:ext cx="15811500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33" name="Shape 31"/>
          <p:cNvSpPr/>
          <p:nvPr/>
        </p:nvSpPr>
        <p:spPr>
          <a:xfrm>
            <a:off x="1238250" y="5443141"/>
            <a:ext cx="57150" cy="971550"/>
          </a:xfrm>
          <a:prstGeom prst="rect">
            <a:avLst/>
          </a:prstGeom>
          <a:solidFill>
            <a:srgbClr val="C8791A"/>
          </a:solidFill>
          <a:ln/>
        </p:spPr>
      </p:sp>
      <p:sp>
        <p:nvSpPr>
          <p:cNvPr id="34" name="Shape 32"/>
          <p:cNvSpPr/>
          <p:nvPr/>
        </p:nvSpPr>
        <p:spPr>
          <a:xfrm>
            <a:off x="17043400" y="5443141"/>
            <a:ext cx="9525" cy="971550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35" name="Text 33"/>
          <p:cNvSpPr/>
          <p:nvPr/>
        </p:nvSpPr>
        <p:spPr>
          <a:xfrm>
            <a:off x="1562100" y="5639991"/>
            <a:ext cx="121920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C879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10d</a:t>
            </a:r>
            <a:endParaRPr lang="en-US" sz="3450" dirty="0"/>
          </a:p>
        </p:txBody>
      </p:sp>
      <p:sp>
        <p:nvSpPr>
          <p:cNvPr id="36" name="Text 34"/>
          <p:cNvSpPr/>
          <p:nvPr/>
        </p:nvSpPr>
        <p:spPr>
          <a:xfrm>
            <a:off x="2933700" y="5791795"/>
            <a:ext cx="5313948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Produção AV e Identidade estruturada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993162" y="5808861"/>
            <a:ext cx="9661892" cy="2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Marcas de novos programas · produção de vídeos (roteiro + aprovação + pós).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1238250" y="6528991"/>
            <a:ext cx="15811500" cy="971550"/>
          </a:xfrm>
          <a:prstGeom prst="roundRect">
            <a:avLst>
              <a:gd name="adj" fmla="val 11765"/>
            </a:avLst>
          </a:prstGeom>
          <a:solidFill>
            <a:srgbClr val="F6F7F9"/>
          </a:solidFill>
          <a:ln/>
        </p:spPr>
      </p:sp>
      <p:sp>
        <p:nvSpPr>
          <p:cNvPr id="39" name="Shape 37"/>
          <p:cNvSpPr/>
          <p:nvPr/>
        </p:nvSpPr>
        <p:spPr>
          <a:xfrm>
            <a:off x="1238250" y="7494191"/>
            <a:ext cx="15811500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40" name="Shape 38"/>
          <p:cNvSpPr/>
          <p:nvPr/>
        </p:nvSpPr>
        <p:spPr>
          <a:xfrm>
            <a:off x="1238250" y="6528991"/>
            <a:ext cx="15811500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41" name="Shape 39"/>
          <p:cNvSpPr/>
          <p:nvPr/>
        </p:nvSpPr>
        <p:spPr>
          <a:xfrm>
            <a:off x="1238250" y="6528991"/>
            <a:ext cx="57150" cy="971550"/>
          </a:xfrm>
          <a:prstGeom prst="rect">
            <a:avLst/>
          </a:prstGeom>
          <a:solidFill>
            <a:srgbClr val="C4314B"/>
          </a:solidFill>
          <a:ln/>
        </p:spPr>
      </p:sp>
      <p:sp>
        <p:nvSpPr>
          <p:cNvPr id="42" name="Shape 40"/>
          <p:cNvSpPr/>
          <p:nvPr/>
        </p:nvSpPr>
        <p:spPr>
          <a:xfrm>
            <a:off x="17043400" y="6528991"/>
            <a:ext cx="9525" cy="971550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43" name="Text 41"/>
          <p:cNvSpPr/>
          <p:nvPr/>
        </p:nvSpPr>
        <p:spPr>
          <a:xfrm>
            <a:off x="1562100" y="6725841"/>
            <a:ext cx="121920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C431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15d</a:t>
            </a:r>
            <a:endParaRPr lang="en-US" sz="3450" dirty="0"/>
          </a:p>
        </p:txBody>
      </p:sp>
      <p:sp>
        <p:nvSpPr>
          <p:cNvPr id="44" name="Text 42"/>
          <p:cNvSpPr/>
          <p:nvPr/>
        </p:nvSpPr>
        <p:spPr>
          <a:xfrm>
            <a:off x="2933700" y="6877645"/>
            <a:ext cx="5313948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Projetos e campanhas integradas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993162" y="6894711"/>
            <a:ext cx="9661892" cy="2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Id. visual + pacote + cobertura · campanhas anuais (Maio Amarelo, SIPAT, GPTW).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1238250" y="8839200"/>
            <a:ext cx="1568946" cy="533400"/>
          </a:xfrm>
          <a:prstGeom prst="roundRect">
            <a:avLst>
              <a:gd name="adj" fmla="val 17857"/>
            </a:avLst>
          </a:prstGeom>
          <a:solidFill>
            <a:srgbClr val="FBF0E1"/>
          </a:solidFill>
          <a:ln w="6350">
            <a:solidFill>
              <a:srgbClr val="ECCFA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54150" y="8978900"/>
            <a:ext cx="121334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85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⏰ Corte 16h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2940546" y="8978900"/>
            <a:ext cx="652573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Chamados abertos após as 16h têm o SLA iniciado no próximo dia útil.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14400"/>
            <a:ext cx="3048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AA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619250" y="914400"/>
            <a:ext cx="308529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8A8F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ESTEIRA DE PRODUÇÃO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6465" y="1031875"/>
            <a:ext cx="12473285" cy="19050"/>
          </a:xfrm>
          <a:prstGeom prst="rect">
            <a:avLst/>
          </a:prstGeom>
          <a:gradFill rotWithShape="1">
            <a:gsLst>
              <a:gs pos="0">
                <a:srgbClr val="3A3D52">
                  <a:alpha val="100000"/>
                </a:srgbClr>
              </a:gs>
              <a:gs pos="100000">
                <a:srgbClr val="3A3D52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1238250" y="1301750"/>
            <a:ext cx="173926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Sete etapas, da entrada à vitrine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238250" y="2435225"/>
            <a:ext cx="2144415" cy="3238500"/>
          </a:xfrm>
          <a:prstGeom prst="roundRect">
            <a:avLst>
              <a:gd name="adj" fmla="val 6218"/>
            </a:avLst>
          </a:prstGeom>
          <a:solidFill>
            <a:srgbClr val="2D3042"/>
          </a:solidFill>
          <a:ln/>
        </p:spPr>
      </p:sp>
      <p:sp>
        <p:nvSpPr>
          <p:cNvPr id="7" name="Shape 5"/>
          <p:cNvSpPr/>
          <p:nvPr/>
        </p:nvSpPr>
        <p:spPr>
          <a:xfrm>
            <a:off x="1238250" y="5667375"/>
            <a:ext cx="2144415" cy="9525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8" name="Shape 6"/>
          <p:cNvSpPr/>
          <p:nvPr/>
        </p:nvSpPr>
        <p:spPr>
          <a:xfrm>
            <a:off x="1238250" y="2435225"/>
            <a:ext cx="2144415" cy="38100"/>
          </a:xfrm>
          <a:prstGeom prst="rect">
            <a:avLst/>
          </a:prstGeom>
          <a:solidFill>
            <a:srgbClr val="5B5FC7"/>
          </a:solidFill>
          <a:ln/>
        </p:spPr>
      </p:sp>
      <p:sp>
        <p:nvSpPr>
          <p:cNvPr id="9" name="Shape 7"/>
          <p:cNvSpPr/>
          <p:nvPr/>
        </p:nvSpPr>
        <p:spPr>
          <a:xfrm>
            <a:off x="1238250" y="2435225"/>
            <a:ext cx="9525" cy="3238500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10" name="Shape 8"/>
          <p:cNvSpPr/>
          <p:nvPr/>
        </p:nvSpPr>
        <p:spPr>
          <a:xfrm>
            <a:off x="3376315" y="2435225"/>
            <a:ext cx="9525" cy="3238500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11" name="Text 9"/>
          <p:cNvSpPr/>
          <p:nvPr/>
        </p:nvSpPr>
        <p:spPr>
          <a:xfrm>
            <a:off x="1416050" y="2720975"/>
            <a:ext cx="196769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B5FC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416050" y="3044825"/>
            <a:ext cx="1967696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Entrada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1416050" y="3451225"/>
            <a:ext cx="1865015" cy="48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AEB3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 recebe o Adaptive Card no Teams (SSOT).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16015" y="2435225"/>
            <a:ext cx="2144514" cy="3238500"/>
          </a:xfrm>
          <a:prstGeom prst="roundRect">
            <a:avLst>
              <a:gd name="adj" fmla="val 6218"/>
            </a:avLst>
          </a:prstGeom>
          <a:solidFill>
            <a:srgbClr val="2D3042"/>
          </a:solidFill>
          <a:ln/>
        </p:spPr>
      </p:sp>
      <p:sp>
        <p:nvSpPr>
          <p:cNvPr id="15" name="Shape 13"/>
          <p:cNvSpPr/>
          <p:nvPr/>
        </p:nvSpPr>
        <p:spPr>
          <a:xfrm>
            <a:off x="3516015" y="5667375"/>
            <a:ext cx="2144514" cy="9525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16" name="Shape 14"/>
          <p:cNvSpPr/>
          <p:nvPr/>
        </p:nvSpPr>
        <p:spPr>
          <a:xfrm>
            <a:off x="3516015" y="2435225"/>
            <a:ext cx="2144514" cy="38100"/>
          </a:xfrm>
          <a:prstGeom prst="rect">
            <a:avLst/>
          </a:prstGeom>
          <a:solidFill>
            <a:srgbClr val="5B5FC7"/>
          </a:solidFill>
          <a:ln/>
        </p:spPr>
      </p:sp>
      <p:sp>
        <p:nvSpPr>
          <p:cNvPr id="17" name="Shape 15"/>
          <p:cNvSpPr/>
          <p:nvPr/>
        </p:nvSpPr>
        <p:spPr>
          <a:xfrm>
            <a:off x="3516015" y="2435225"/>
            <a:ext cx="9525" cy="3238500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18" name="Shape 16"/>
          <p:cNvSpPr/>
          <p:nvPr/>
        </p:nvSpPr>
        <p:spPr>
          <a:xfrm>
            <a:off x="5654179" y="2435225"/>
            <a:ext cx="9525" cy="3238500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19" name="Text 17"/>
          <p:cNvSpPr/>
          <p:nvPr/>
        </p:nvSpPr>
        <p:spPr>
          <a:xfrm>
            <a:off x="3693815" y="2720975"/>
            <a:ext cx="19678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B5FC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3693815" y="3044825"/>
            <a:ext cx="196780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</a:t>
            </a:r>
            <a:endParaRPr lang="en-US" sz="1725" dirty="0"/>
          </a:p>
        </p:txBody>
      </p:sp>
      <p:sp>
        <p:nvSpPr>
          <p:cNvPr id="21" name="Text 19"/>
          <p:cNvSpPr/>
          <p:nvPr/>
        </p:nvSpPr>
        <p:spPr>
          <a:xfrm>
            <a:off x="3693815" y="3451225"/>
            <a:ext cx="186511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AEB3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 criado no Planner, categorizado por esforço e concessão.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93879" y="2435225"/>
            <a:ext cx="2144415" cy="3238500"/>
          </a:xfrm>
          <a:prstGeom prst="roundRect">
            <a:avLst>
              <a:gd name="adj" fmla="val 6218"/>
            </a:avLst>
          </a:prstGeom>
          <a:solidFill>
            <a:srgbClr val="2D3042"/>
          </a:solidFill>
          <a:ln/>
        </p:spPr>
      </p:sp>
      <p:sp>
        <p:nvSpPr>
          <p:cNvPr id="23" name="Shape 21"/>
          <p:cNvSpPr/>
          <p:nvPr/>
        </p:nvSpPr>
        <p:spPr>
          <a:xfrm>
            <a:off x="5793879" y="5667375"/>
            <a:ext cx="2144415" cy="9525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24" name="Shape 22"/>
          <p:cNvSpPr/>
          <p:nvPr/>
        </p:nvSpPr>
        <p:spPr>
          <a:xfrm>
            <a:off x="5793879" y="2435225"/>
            <a:ext cx="2144415" cy="38100"/>
          </a:xfrm>
          <a:prstGeom prst="rect">
            <a:avLst/>
          </a:prstGeom>
          <a:solidFill>
            <a:srgbClr val="8A8F9C"/>
          </a:solidFill>
          <a:ln/>
        </p:spPr>
      </p:sp>
      <p:sp>
        <p:nvSpPr>
          <p:cNvPr id="25" name="Shape 23"/>
          <p:cNvSpPr/>
          <p:nvPr/>
        </p:nvSpPr>
        <p:spPr>
          <a:xfrm>
            <a:off x="5793879" y="2435225"/>
            <a:ext cx="9525" cy="3238500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26" name="Shape 24"/>
          <p:cNvSpPr/>
          <p:nvPr/>
        </p:nvSpPr>
        <p:spPr>
          <a:xfrm>
            <a:off x="7931944" y="2435225"/>
            <a:ext cx="9525" cy="3238500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27" name="Text 25"/>
          <p:cNvSpPr/>
          <p:nvPr/>
        </p:nvSpPr>
        <p:spPr>
          <a:xfrm>
            <a:off x="5971679" y="2720975"/>
            <a:ext cx="196769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F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5971679" y="3044825"/>
            <a:ext cx="1967696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Triagem</a:t>
            </a:r>
            <a:endParaRPr lang="en-US" sz="1725" dirty="0"/>
          </a:p>
        </p:txBody>
      </p:sp>
      <p:sp>
        <p:nvSpPr>
          <p:cNvPr id="29" name="Text 27"/>
          <p:cNvSpPr/>
          <p:nvPr/>
        </p:nvSpPr>
        <p:spPr>
          <a:xfrm>
            <a:off x="5971679" y="3451225"/>
            <a:ext cx="186501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AEB3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Briefing validado. Incompleto → devolve; SLA não inicia.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71644" y="2435225"/>
            <a:ext cx="2144514" cy="3238500"/>
          </a:xfrm>
          <a:prstGeom prst="roundRect">
            <a:avLst>
              <a:gd name="adj" fmla="val 6218"/>
            </a:avLst>
          </a:prstGeom>
          <a:solidFill>
            <a:srgbClr val="2D3042"/>
          </a:solidFill>
          <a:ln/>
        </p:spPr>
      </p:sp>
      <p:sp>
        <p:nvSpPr>
          <p:cNvPr id="31" name="Shape 29"/>
          <p:cNvSpPr/>
          <p:nvPr/>
        </p:nvSpPr>
        <p:spPr>
          <a:xfrm>
            <a:off x="8071644" y="5667375"/>
            <a:ext cx="2144514" cy="9525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32" name="Shape 30"/>
          <p:cNvSpPr/>
          <p:nvPr/>
        </p:nvSpPr>
        <p:spPr>
          <a:xfrm>
            <a:off x="8071644" y="2435225"/>
            <a:ext cx="2144514" cy="38100"/>
          </a:xfrm>
          <a:prstGeom prst="rect">
            <a:avLst/>
          </a:prstGeom>
          <a:solidFill>
            <a:srgbClr val="9061D6"/>
          </a:solidFill>
          <a:ln/>
        </p:spPr>
      </p:sp>
      <p:sp>
        <p:nvSpPr>
          <p:cNvPr id="33" name="Shape 31"/>
          <p:cNvSpPr/>
          <p:nvPr/>
        </p:nvSpPr>
        <p:spPr>
          <a:xfrm>
            <a:off x="8071644" y="2435225"/>
            <a:ext cx="9525" cy="3238500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34" name="Shape 32"/>
          <p:cNvSpPr/>
          <p:nvPr/>
        </p:nvSpPr>
        <p:spPr>
          <a:xfrm>
            <a:off x="10209808" y="2435225"/>
            <a:ext cx="9525" cy="3238500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35" name="Text 33"/>
          <p:cNvSpPr/>
          <p:nvPr/>
        </p:nvSpPr>
        <p:spPr>
          <a:xfrm>
            <a:off x="8249444" y="2720975"/>
            <a:ext cx="19678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906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8249444" y="3044825"/>
            <a:ext cx="196780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Produção</a:t>
            </a:r>
            <a:endParaRPr lang="en-US" sz="1725" dirty="0"/>
          </a:p>
        </p:txBody>
      </p:sp>
      <p:sp>
        <p:nvSpPr>
          <p:cNvPr id="37" name="Text 35"/>
          <p:cNvSpPr/>
          <p:nvPr/>
        </p:nvSpPr>
        <p:spPr>
          <a:xfrm>
            <a:off x="8249444" y="3451225"/>
            <a:ext cx="1865114" cy="48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AEB3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Execução conforme o SLA da categoria.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349508" y="2435225"/>
            <a:ext cx="2144514" cy="3238500"/>
          </a:xfrm>
          <a:prstGeom prst="roundRect">
            <a:avLst>
              <a:gd name="adj" fmla="val 6218"/>
            </a:avLst>
          </a:prstGeom>
          <a:solidFill>
            <a:srgbClr val="2D3042"/>
          </a:solidFill>
          <a:ln/>
        </p:spPr>
      </p:sp>
      <p:sp>
        <p:nvSpPr>
          <p:cNvPr id="39" name="Shape 37"/>
          <p:cNvSpPr/>
          <p:nvPr/>
        </p:nvSpPr>
        <p:spPr>
          <a:xfrm>
            <a:off x="10349508" y="5667375"/>
            <a:ext cx="2144514" cy="9525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40" name="Shape 38"/>
          <p:cNvSpPr/>
          <p:nvPr/>
        </p:nvSpPr>
        <p:spPr>
          <a:xfrm>
            <a:off x="10349508" y="2435225"/>
            <a:ext cx="2144514" cy="38100"/>
          </a:xfrm>
          <a:prstGeom prst="rect">
            <a:avLst/>
          </a:prstGeom>
          <a:solidFill>
            <a:srgbClr val="C8791A"/>
          </a:solidFill>
          <a:ln/>
        </p:spPr>
      </p:sp>
      <p:sp>
        <p:nvSpPr>
          <p:cNvPr id="41" name="Shape 39"/>
          <p:cNvSpPr/>
          <p:nvPr/>
        </p:nvSpPr>
        <p:spPr>
          <a:xfrm>
            <a:off x="10349508" y="2435225"/>
            <a:ext cx="9525" cy="3238500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42" name="Shape 40"/>
          <p:cNvSpPr/>
          <p:nvPr/>
        </p:nvSpPr>
        <p:spPr>
          <a:xfrm>
            <a:off x="12487672" y="2435225"/>
            <a:ext cx="9525" cy="3238500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43" name="Text 41"/>
          <p:cNvSpPr/>
          <p:nvPr/>
        </p:nvSpPr>
        <p:spPr>
          <a:xfrm>
            <a:off x="10527309" y="2720975"/>
            <a:ext cx="19678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C879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125" dirty="0"/>
          </a:p>
        </p:txBody>
      </p:sp>
      <p:sp>
        <p:nvSpPr>
          <p:cNvPr id="44" name="Text 42"/>
          <p:cNvSpPr/>
          <p:nvPr/>
        </p:nvSpPr>
        <p:spPr>
          <a:xfrm>
            <a:off x="10527309" y="3044825"/>
            <a:ext cx="196780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Aprovação</a:t>
            </a:r>
            <a:endParaRPr lang="en-US" sz="1725" dirty="0"/>
          </a:p>
        </p:txBody>
      </p:sp>
      <p:sp>
        <p:nvSpPr>
          <p:cNvPr id="45" name="Text 43"/>
          <p:cNvSpPr/>
          <p:nvPr/>
        </p:nvSpPr>
        <p:spPr>
          <a:xfrm>
            <a:off x="10527309" y="3451225"/>
            <a:ext cx="1865114" cy="48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AEB3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1ª versão; 24h para retorno; +2d → On Hold.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2627372" y="2435225"/>
            <a:ext cx="2144514" cy="3238500"/>
          </a:xfrm>
          <a:prstGeom prst="roundRect">
            <a:avLst>
              <a:gd name="adj" fmla="val 6218"/>
            </a:avLst>
          </a:prstGeom>
          <a:solidFill>
            <a:srgbClr val="2D3042"/>
          </a:solidFill>
          <a:ln/>
        </p:spPr>
      </p:sp>
      <p:sp>
        <p:nvSpPr>
          <p:cNvPr id="47" name="Shape 45"/>
          <p:cNvSpPr/>
          <p:nvPr/>
        </p:nvSpPr>
        <p:spPr>
          <a:xfrm>
            <a:off x="12627372" y="5667375"/>
            <a:ext cx="2144514" cy="9525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48" name="Shape 46"/>
          <p:cNvSpPr/>
          <p:nvPr/>
        </p:nvSpPr>
        <p:spPr>
          <a:xfrm>
            <a:off x="12627372" y="2435225"/>
            <a:ext cx="2144514" cy="38100"/>
          </a:xfrm>
          <a:prstGeom prst="rect">
            <a:avLst/>
          </a:prstGeom>
          <a:solidFill>
            <a:srgbClr val="C8791A"/>
          </a:solidFill>
          <a:ln/>
        </p:spPr>
      </p:sp>
      <p:sp>
        <p:nvSpPr>
          <p:cNvPr id="49" name="Shape 47"/>
          <p:cNvSpPr/>
          <p:nvPr/>
        </p:nvSpPr>
        <p:spPr>
          <a:xfrm>
            <a:off x="12627372" y="2435225"/>
            <a:ext cx="9525" cy="3238500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50" name="Shape 48"/>
          <p:cNvSpPr/>
          <p:nvPr/>
        </p:nvSpPr>
        <p:spPr>
          <a:xfrm>
            <a:off x="14765536" y="2435225"/>
            <a:ext cx="9525" cy="3238500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51" name="Text 49"/>
          <p:cNvSpPr/>
          <p:nvPr/>
        </p:nvSpPr>
        <p:spPr>
          <a:xfrm>
            <a:off x="12805172" y="2720975"/>
            <a:ext cx="19678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C879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125" dirty="0"/>
          </a:p>
        </p:txBody>
      </p:sp>
      <p:sp>
        <p:nvSpPr>
          <p:cNvPr id="52" name="Text 50"/>
          <p:cNvSpPr/>
          <p:nvPr/>
        </p:nvSpPr>
        <p:spPr>
          <a:xfrm>
            <a:off x="12805172" y="3044825"/>
            <a:ext cx="196780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Ajustes</a:t>
            </a:r>
            <a:endParaRPr lang="en-US" sz="1725" dirty="0"/>
          </a:p>
        </p:txBody>
      </p:sp>
      <p:sp>
        <p:nvSpPr>
          <p:cNvPr id="53" name="Text 51"/>
          <p:cNvSpPr/>
          <p:nvPr/>
        </p:nvSpPr>
        <p:spPr>
          <a:xfrm>
            <a:off x="12805172" y="3451225"/>
            <a:ext cx="1865114" cy="48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AEB3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Refinamentos em até 2 dias úteis.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14905237" y="2435225"/>
            <a:ext cx="2144514" cy="3238500"/>
          </a:xfrm>
          <a:prstGeom prst="roundRect">
            <a:avLst>
              <a:gd name="adj" fmla="val 6218"/>
            </a:avLst>
          </a:prstGeom>
          <a:solidFill>
            <a:srgbClr val="2D3042"/>
          </a:solidFill>
          <a:ln/>
        </p:spPr>
      </p:sp>
      <p:sp>
        <p:nvSpPr>
          <p:cNvPr id="55" name="Shape 53"/>
          <p:cNvSpPr/>
          <p:nvPr/>
        </p:nvSpPr>
        <p:spPr>
          <a:xfrm>
            <a:off x="14905237" y="5667375"/>
            <a:ext cx="2144514" cy="9525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56" name="Shape 54"/>
          <p:cNvSpPr/>
          <p:nvPr/>
        </p:nvSpPr>
        <p:spPr>
          <a:xfrm>
            <a:off x="14905237" y="2435225"/>
            <a:ext cx="2144514" cy="3810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57" name="Shape 55"/>
          <p:cNvSpPr/>
          <p:nvPr/>
        </p:nvSpPr>
        <p:spPr>
          <a:xfrm>
            <a:off x="14905237" y="2435225"/>
            <a:ext cx="9525" cy="3238500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58" name="Shape 56"/>
          <p:cNvSpPr/>
          <p:nvPr/>
        </p:nvSpPr>
        <p:spPr>
          <a:xfrm>
            <a:off x="17043401" y="2435225"/>
            <a:ext cx="9525" cy="3238500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59" name="Text 57"/>
          <p:cNvSpPr/>
          <p:nvPr/>
        </p:nvSpPr>
        <p:spPr>
          <a:xfrm>
            <a:off x="15083036" y="2720975"/>
            <a:ext cx="19678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F8A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125" dirty="0"/>
          </a:p>
        </p:txBody>
      </p:sp>
      <p:sp>
        <p:nvSpPr>
          <p:cNvPr id="60" name="Text 58"/>
          <p:cNvSpPr/>
          <p:nvPr/>
        </p:nvSpPr>
        <p:spPr>
          <a:xfrm>
            <a:off x="15083036" y="3044825"/>
            <a:ext cx="196780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Conclusão</a:t>
            </a:r>
            <a:endParaRPr lang="en-US" sz="1725" dirty="0"/>
          </a:p>
        </p:txBody>
      </p:sp>
      <p:sp>
        <p:nvSpPr>
          <p:cNvPr id="61" name="Text 59"/>
          <p:cNvSpPr/>
          <p:nvPr/>
        </p:nvSpPr>
        <p:spPr>
          <a:xfrm>
            <a:off x="15083036" y="3451225"/>
            <a:ext cx="1865114" cy="48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AEB3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DoD ok → card no Calendário Editorial.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14400"/>
            <a:ext cx="3048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5FC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619250" y="914400"/>
            <a:ext cx="4056321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9AA0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REGRAS QUE PROTEGEM O SLA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59214" y="1031875"/>
            <a:ext cx="11590537" cy="19050"/>
          </a:xfrm>
          <a:prstGeom prst="rect">
            <a:avLst/>
          </a:prstGeom>
          <a:gradFill rotWithShape="1">
            <a:gsLst>
              <a:gs pos="0">
                <a:srgbClr val="E2E4EA">
                  <a:alpha val="100000"/>
                </a:srgbClr>
              </a:gs>
              <a:gs pos="100000">
                <a:srgbClr val="E2E4EA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1238250" y="1301750"/>
            <a:ext cx="173926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prazo é compartilhado com o solicitante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238250" y="2416175"/>
            <a:ext cx="5092700" cy="2908300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87500" y="2803525"/>
            <a:ext cx="4833620" cy="717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1F8A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24h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1587500" y="3635375"/>
            <a:ext cx="48336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Janela de aprovação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587500" y="4079875"/>
            <a:ext cx="452602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Aprovação da 1ª versão em até 24h úteis mantém o deadline. Cada dia de atraso é somado à data final.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97650" y="2416175"/>
            <a:ext cx="5092700" cy="2908300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6900" y="2803525"/>
            <a:ext cx="4833620" cy="717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C431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+2d</a:t>
            </a:r>
            <a:endParaRPr lang="en-US" sz="4050" dirty="0"/>
          </a:p>
        </p:txBody>
      </p:sp>
      <p:sp>
        <p:nvSpPr>
          <p:cNvPr id="12" name="Text 10"/>
          <p:cNvSpPr/>
          <p:nvPr/>
        </p:nvSpPr>
        <p:spPr>
          <a:xfrm>
            <a:off x="6946900" y="3635375"/>
            <a:ext cx="48336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Hold automático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946900" y="4079875"/>
            <a:ext cx="452602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retorno por mais de 2 dias úteis, o SLA é congelado e o chamado vai para "On Hold", perdendo prioridade na fila.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957050" y="2416175"/>
            <a:ext cx="5092700" cy="2908300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06300" y="2803525"/>
            <a:ext cx="4833620" cy="717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C879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2d</a:t>
            </a:r>
            <a:endParaRPr lang="en-US" sz="4050" dirty="0"/>
          </a:p>
        </p:txBody>
      </p:sp>
      <p:sp>
        <p:nvSpPr>
          <p:cNvPr id="16" name="Text 14"/>
          <p:cNvSpPr/>
          <p:nvPr/>
        </p:nvSpPr>
        <p:spPr>
          <a:xfrm>
            <a:off x="12306300" y="3635375"/>
            <a:ext cx="48336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Ciclo de ajustes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306300" y="4079875"/>
            <a:ext cx="452602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Ajustes solicitados são executados em até 2 dias úteis, então a peça retorna para nova aprovação.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38200"/>
            <a:ext cx="3048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5FC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619250" y="838200"/>
            <a:ext cx="228125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9AA0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BOT DE HOOKS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845521" y="955675"/>
            <a:ext cx="13204230" cy="19050"/>
          </a:xfrm>
          <a:prstGeom prst="rect">
            <a:avLst/>
          </a:prstGeom>
          <a:gradFill rotWithShape="1">
            <a:gsLst>
              <a:gs pos="0">
                <a:srgbClr val="E2E4EA">
                  <a:alpha val="100000"/>
                </a:srgbClr>
              </a:gs>
              <a:gs pos="100000">
                <a:srgbClr val="E2E4EA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1238250" y="1225550"/>
            <a:ext cx="17392650" cy="578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50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Oito automações, um chamado de ponta a ponta</a:t>
            </a:r>
            <a:endParaRPr lang="en-US" sz="4050" dirty="0"/>
          </a:p>
        </p:txBody>
      </p:sp>
      <p:sp>
        <p:nvSpPr>
          <p:cNvPr id="6" name="Shape 4"/>
          <p:cNvSpPr/>
          <p:nvPr/>
        </p:nvSpPr>
        <p:spPr>
          <a:xfrm>
            <a:off x="1238250" y="2108498"/>
            <a:ext cx="3824288" cy="2152650"/>
          </a:xfrm>
          <a:prstGeom prst="roundRect">
            <a:avLst>
              <a:gd name="adj" fmla="val 6195"/>
            </a:avLst>
          </a:prstGeom>
          <a:solidFill>
            <a:srgbClr val="F6F7F9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54150" y="2343448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5B5FC7"/>
          </a:solidFill>
          <a:ln/>
        </p:spPr>
      </p:sp>
      <p:sp>
        <p:nvSpPr>
          <p:cNvPr id="8" name="Text 6"/>
          <p:cNvSpPr/>
          <p:nvPr/>
        </p:nvSpPr>
        <p:spPr>
          <a:xfrm>
            <a:off x="1554163" y="2391073"/>
            <a:ext cx="161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835150" y="2391073"/>
            <a:ext cx="10191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B5FC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hook:intake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454150" y="2762548"/>
            <a:ext cx="37317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Intake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1454150" y="3105448"/>
            <a:ext cx="3494262" cy="48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Recebe o Adaptive Card no Teams e valida o briefing mínimo.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33988" y="2108498"/>
            <a:ext cx="3824288" cy="2152650"/>
          </a:xfrm>
          <a:prstGeom prst="roundRect">
            <a:avLst>
              <a:gd name="adj" fmla="val 6195"/>
            </a:avLst>
          </a:prstGeom>
          <a:solidFill>
            <a:srgbClr val="F6F7F9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9888" y="2343448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5B5FC7"/>
          </a:solidFill>
          <a:ln/>
        </p:spPr>
      </p:sp>
      <p:sp>
        <p:nvSpPr>
          <p:cNvPr id="14" name="Text 12"/>
          <p:cNvSpPr/>
          <p:nvPr/>
        </p:nvSpPr>
        <p:spPr>
          <a:xfrm>
            <a:off x="5549900" y="2391073"/>
            <a:ext cx="161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5830888" y="2391073"/>
            <a:ext cx="11906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B5FC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hook:register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5449888" y="2762548"/>
            <a:ext cx="37317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5449888" y="3105448"/>
            <a:ext cx="3494262" cy="48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Cria o card no Planner, categoriza e inicia o SLA (corte 16h).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229725" y="2108498"/>
            <a:ext cx="3824288" cy="2152650"/>
          </a:xfrm>
          <a:prstGeom prst="roundRect">
            <a:avLst>
              <a:gd name="adj" fmla="val 6195"/>
            </a:avLst>
          </a:prstGeom>
          <a:solidFill>
            <a:srgbClr val="F6F7F9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45625" y="2343448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8A8F9C"/>
          </a:solidFill>
          <a:ln/>
        </p:spPr>
      </p:sp>
      <p:sp>
        <p:nvSpPr>
          <p:cNvPr id="20" name="Text 18"/>
          <p:cNvSpPr/>
          <p:nvPr/>
        </p:nvSpPr>
        <p:spPr>
          <a:xfrm>
            <a:off x="9545638" y="2391073"/>
            <a:ext cx="161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9826626" y="2391073"/>
            <a:ext cx="11049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F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hook:triagem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9445625" y="2762548"/>
            <a:ext cx="37317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Triagem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9445625" y="3105448"/>
            <a:ext cx="3731736" cy="2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Briefing incompleto → devolve e congela o SLA.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3225463" y="2108498"/>
            <a:ext cx="3824288" cy="2152650"/>
          </a:xfrm>
          <a:prstGeom prst="roundRect">
            <a:avLst>
              <a:gd name="adj" fmla="val 6195"/>
            </a:avLst>
          </a:prstGeom>
          <a:solidFill>
            <a:srgbClr val="F6F7F9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441363" y="2343448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C8791A"/>
          </a:solidFill>
          <a:ln/>
        </p:spPr>
      </p:sp>
      <p:sp>
        <p:nvSpPr>
          <p:cNvPr id="26" name="Text 24"/>
          <p:cNvSpPr/>
          <p:nvPr/>
        </p:nvSpPr>
        <p:spPr>
          <a:xfrm>
            <a:off x="13541376" y="2391073"/>
            <a:ext cx="161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3822363" y="2391073"/>
            <a:ext cx="7620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C879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hook:sla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13441363" y="2762548"/>
            <a:ext cx="37317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Timer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13441363" y="3105448"/>
            <a:ext cx="3731736" cy="2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 o prazo; alerta em D-2, D-1 e no estouro.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238250" y="4432598"/>
            <a:ext cx="3824288" cy="2152650"/>
          </a:xfrm>
          <a:prstGeom prst="roundRect">
            <a:avLst>
              <a:gd name="adj" fmla="val 6195"/>
            </a:avLst>
          </a:prstGeom>
          <a:solidFill>
            <a:srgbClr val="F6F7F9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54150" y="4667548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C8791A"/>
          </a:solidFill>
          <a:ln/>
        </p:spPr>
      </p:sp>
      <p:sp>
        <p:nvSpPr>
          <p:cNvPr id="32" name="Text 30"/>
          <p:cNvSpPr/>
          <p:nvPr/>
        </p:nvSpPr>
        <p:spPr>
          <a:xfrm>
            <a:off x="1554163" y="4715173"/>
            <a:ext cx="161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1835150" y="4715173"/>
            <a:ext cx="11906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C879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hook:approval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454150" y="5086648"/>
            <a:ext cx="37317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Aprovação</a:t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1454150" y="5429548"/>
            <a:ext cx="3494262" cy="48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1ª versão; janela de 24h; +2d sem retorno → On Hold.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233988" y="4432598"/>
            <a:ext cx="3824288" cy="2152650"/>
          </a:xfrm>
          <a:prstGeom prst="roundRect">
            <a:avLst>
              <a:gd name="adj" fmla="val 6195"/>
            </a:avLst>
          </a:prstGeom>
          <a:solidFill>
            <a:srgbClr val="F6F7F9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49888" y="4667548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9061D6"/>
          </a:solidFill>
          <a:ln/>
        </p:spPr>
      </p:sp>
      <p:sp>
        <p:nvSpPr>
          <p:cNvPr id="38" name="Text 36"/>
          <p:cNvSpPr/>
          <p:nvPr/>
        </p:nvSpPr>
        <p:spPr>
          <a:xfrm>
            <a:off x="5549900" y="4715173"/>
            <a:ext cx="161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5830888" y="4715173"/>
            <a:ext cx="10191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906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hook:adjust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5449888" y="5086648"/>
            <a:ext cx="37317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Ajustes</a:t>
            </a:r>
            <a:endParaRPr lang="en-US" sz="1575" dirty="0"/>
          </a:p>
        </p:txBody>
      </p:sp>
      <p:sp>
        <p:nvSpPr>
          <p:cNvPr id="41" name="Text 39"/>
          <p:cNvSpPr/>
          <p:nvPr/>
        </p:nvSpPr>
        <p:spPr>
          <a:xfrm>
            <a:off x="5449888" y="5429548"/>
            <a:ext cx="3731736" cy="2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Ciclo de ajustes em até 2 dias úteis.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229725" y="4432598"/>
            <a:ext cx="3824288" cy="2152650"/>
          </a:xfrm>
          <a:prstGeom prst="roundRect">
            <a:avLst>
              <a:gd name="adj" fmla="val 6195"/>
            </a:avLst>
          </a:prstGeom>
          <a:solidFill>
            <a:srgbClr val="F6F7F9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45625" y="4667548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1F8A5B"/>
          </a:solidFill>
          <a:ln/>
        </p:spPr>
      </p:sp>
      <p:sp>
        <p:nvSpPr>
          <p:cNvPr id="44" name="Text 42"/>
          <p:cNvSpPr/>
          <p:nvPr/>
        </p:nvSpPr>
        <p:spPr>
          <a:xfrm>
            <a:off x="9545638" y="4715173"/>
            <a:ext cx="161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9826626" y="4715173"/>
            <a:ext cx="8477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F8A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hook:done</a:t>
            </a:r>
            <a:endParaRPr lang="en-US" sz="1125" dirty="0"/>
          </a:p>
        </p:txBody>
      </p:sp>
      <p:sp>
        <p:nvSpPr>
          <p:cNvPr id="46" name="Text 44"/>
          <p:cNvSpPr/>
          <p:nvPr/>
        </p:nvSpPr>
        <p:spPr>
          <a:xfrm>
            <a:off x="9445625" y="5086648"/>
            <a:ext cx="37317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Conclusão / DoD</a:t>
            </a:r>
            <a:endParaRPr lang="en-US" sz="1575" dirty="0"/>
          </a:p>
        </p:txBody>
      </p:sp>
      <p:sp>
        <p:nvSpPr>
          <p:cNvPr id="47" name="Text 45"/>
          <p:cNvSpPr/>
          <p:nvPr/>
        </p:nvSpPr>
        <p:spPr>
          <a:xfrm>
            <a:off x="9445625" y="5429548"/>
            <a:ext cx="3731736" cy="2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Checklist DoD → conclui e gera o card editorial.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3225463" y="4432598"/>
            <a:ext cx="3824288" cy="2152650"/>
          </a:xfrm>
          <a:prstGeom prst="roundRect">
            <a:avLst>
              <a:gd name="adj" fmla="val 6195"/>
            </a:avLst>
          </a:prstGeom>
          <a:solidFill>
            <a:srgbClr val="F6F7F9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441363" y="4667548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C4314B"/>
          </a:solidFill>
          <a:ln/>
        </p:spPr>
      </p:sp>
      <p:sp>
        <p:nvSpPr>
          <p:cNvPr id="50" name="Text 48"/>
          <p:cNvSpPr/>
          <p:nvPr/>
        </p:nvSpPr>
        <p:spPr>
          <a:xfrm>
            <a:off x="13541376" y="4715173"/>
            <a:ext cx="161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en-US" sz="1125" dirty="0"/>
          </a:p>
        </p:txBody>
      </p:sp>
      <p:sp>
        <p:nvSpPr>
          <p:cNvPr id="51" name="Text 49"/>
          <p:cNvSpPr/>
          <p:nvPr/>
        </p:nvSpPr>
        <p:spPr>
          <a:xfrm>
            <a:off x="13822363" y="4715173"/>
            <a:ext cx="10191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C431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hook:urgent</a:t>
            </a:r>
            <a:endParaRPr lang="en-US" sz="1125" dirty="0"/>
          </a:p>
        </p:txBody>
      </p:sp>
      <p:sp>
        <p:nvSpPr>
          <p:cNvPr id="52" name="Text 50"/>
          <p:cNvSpPr/>
          <p:nvPr/>
        </p:nvSpPr>
        <p:spPr>
          <a:xfrm>
            <a:off x="13441363" y="5086648"/>
            <a:ext cx="37317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Exceção</a:t>
            </a:r>
            <a:endParaRPr lang="en-US" sz="1575" dirty="0"/>
          </a:p>
        </p:txBody>
      </p:sp>
      <p:sp>
        <p:nvSpPr>
          <p:cNvPr id="53" name="Text 51"/>
          <p:cNvSpPr/>
          <p:nvPr/>
        </p:nvSpPr>
        <p:spPr>
          <a:xfrm>
            <a:off x="13441363" y="5429548"/>
            <a:ext cx="3731736" cy="2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Urgência validada via Teams; reprioriza a fila.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14400"/>
            <a:ext cx="3048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5FC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619250" y="914400"/>
            <a:ext cx="285402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7C8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 OF DONE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366220" y="1031875"/>
            <a:ext cx="12683530" cy="19050"/>
          </a:xfrm>
          <a:prstGeom prst="rect">
            <a:avLst/>
          </a:prstGeom>
          <a:gradFill rotWithShape="1">
            <a:gsLst>
              <a:gs pos="0">
                <a:srgbClr val="C9C7EF">
                  <a:alpha val="100000"/>
                </a:srgbClr>
              </a:gs>
              <a:gs pos="100000">
                <a:srgbClr val="C9C7EF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1238250" y="1301750"/>
            <a:ext cx="173926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SLA só encerra com o DoD cumprido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238250" y="2073275"/>
            <a:ext cx="729827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Cinco critérios obrigatórios. O </a:t>
            </a:r>
            <a:pPr algn="l" indent="0" marL="0">
              <a:buNone/>
            </a:pPr>
            <a:r>
              <a:rPr lang="en-US" sz="1725" dirty="0">
                <a:solidFill>
                  <a:srgbClr val="494E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hook:done </a:t>
            </a:r>
            <a:pPr algn="l" indent="0" marL="0">
              <a:buNone/>
            </a:pPr>
            <a:r>
              <a:rPr lang="en-US" sz="1725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bloqueia a baixa enquanto algum item estiver pendente.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1238250" y="3101975"/>
            <a:ext cx="11239500" cy="1035050"/>
          </a:xfrm>
          <a:prstGeom prst="roundRect">
            <a:avLst>
              <a:gd name="adj" fmla="val 12883"/>
            </a:avLst>
          </a:prstGeom>
          <a:solidFill>
            <a:srgbClr val="FFFFFF"/>
          </a:solidFill>
          <a:ln w="6350">
            <a:solidFill>
              <a:srgbClr val="D8D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30350" y="3419475"/>
            <a:ext cx="400050" cy="400050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9" name="Text 7"/>
          <p:cNvSpPr/>
          <p:nvPr/>
        </p:nvSpPr>
        <p:spPr>
          <a:xfrm>
            <a:off x="1492250" y="3419475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139950" y="3336925"/>
            <a:ext cx="447509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Aprovação formal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39950" y="3660775"/>
            <a:ext cx="4475093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Arte e texto validados e aprovados pelo solicitante.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1238250" y="4289425"/>
            <a:ext cx="11239500" cy="1035050"/>
          </a:xfrm>
          <a:prstGeom prst="roundRect">
            <a:avLst>
              <a:gd name="adj" fmla="val 12883"/>
            </a:avLst>
          </a:prstGeom>
          <a:solidFill>
            <a:srgbClr val="FFFFFF"/>
          </a:solidFill>
          <a:ln w="6350">
            <a:solidFill>
              <a:srgbClr val="D8D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30350" y="4606925"/>
            <a:ext cx="400050" cy="400050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14" name="Text 12"/>
          <p:cNvSpPr/>
          <p:nvPr/>
        </p:nvSpPr>
        <p:spPr>
          <a:xfrm>
            <a:off x="1492250" y="4606925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2139950" y="4524375"/>
            <a:ext cx="525381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Arquivos fechados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139950" y="4848225"/>
            <a:ext cx="525381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Material final em PDF / PNG / MP4, nos repositórios oficiais.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1238250" y="5476875"/>
            <a:ext cx="11239500" cy="1035050"/>
          </a:xfrm>
          <a:prstGeom prst="roundRect">
            <a:avLst>
              <a:gd name="adj" fmla="val 12883"/>
            </a:avLst>
          </a:prstGeom>
          <a:solidFill>
            <a:srgbClr val="FFFFFF"/>
          </a:solidFill>
          <a:ln w="6350">
            <a:solidFill>
              <a:srgbClr val="D8D6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30350" y="5794375"/>
            <a:ext cx="400050" cy="400050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19" name="Text 17"/>
          <p:cNvSpPr/>
          <p:nvPr/>
        </p:nvSpPr>
        <p:spPr>
          <a:xfrm>
            <a:off x="1492250" y="5794375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2139950" y="5711825"/>
            <a:ext cx="58686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Veiculação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139950" y="6035675"/>
            <a:ext cx="586860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Conteúdo disparado nos canais oficiais definidos no planejamento.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1238250" y="6664325"/>
            <a:ext cx="11239500" cy="1035050"/>
          </a:xfrm>
          <a:prstGeom prst="roundRect">
            <a:avLst>
              <a:gd name="adj" fmla="val 12883"/>
            </a:avLst>
          </a:prstGeom>
          <a:solidFill>
            <a:srgbClr val="FFFFFF"/>
          </a:solidFill>
          <a:ln w="6350">
            <a:solidFill>
              <a:srgbClr val="D8D6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30350" y="6981825"/>
            <a:ext cx="400050" cy="400050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24" name="Text 22"/>
          <p:cNvSpPr/>
          <p:nvPr/>
        </p:nvSpPr>
        <p:spPr>
          <a:xfrm>
            <a:off x="1492250" y="6981825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2139950" y="6899275"/>
            <a:ext cx="400360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Baixa no sistema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139950" y="7223125"/>
            <a:ext cx="4003606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Tarefa marcada como "Concluída" no Planner.</a:t>
            </a:r>
            <a:endParaRPr lang="en-US" sz="1425" dirty="0"/>
          </a:p>
        </p:txBody>
      </p:sp>
      <p:sp>
        <p:nvSpPr>
          <p:cNvPr id="27" name="Shape 25"/>
          <p:cNvSpPr/>
          <p:nvPr/>
        </p:nvSpPr>
        <p:spPr>
          <a:xfrm>
            <a:off x="1238250" y="7851775"/>
            <a:ext cx="11239500" cy="1035050"/>
          </a:xfrm>
          <a:prstGeom prst="roundRect">
            <a:avLst>
              <a:gd name="adj" fmla="val 12883"/>
            </a:avLst>
          </a:prstGeom>
          <a:solidFill>
            <a:srgbClr val="FFFFFF"/>
          </a:solidFill>
          <a:ln w="6350">
            <a:solidFill>
              <a:srgbClr val="D8D6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30350" y="8169275"/>
            <a:ext cx="400050" cy="400050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29" name="Text 27"/>
          <p:cNvSpPr/>
          <p:nvPr/>
        </p:nvSpPr>
        <p:spPr>
          <a:xfrm>
            <a:off x="1492250" y="8169275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2139950" y="8086725"/>
            <a:ext cx="473157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Visibilidade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139950" y="8410575"/>
            <a:ext cx="4731574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 gerado no Calendário Editorial com data e canal.</a:t>
            </a:r>
            <a:endParaRPr lang="en-US" sz="14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14400"/>
            <a:ext cx="3048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431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619250" y="914400"/>
            <a:ext cx="423640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9AA0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FLUXO DE EXCEÇÃO · URGÊNCIA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22925" y="1031875"/>
            <a:ext cx="11426826" cy="19050"/>
          </a:xfrm>
          <a:prstGeom prst="rect">
            <a:avLst/>
          </a:prstGeom>
          <a:gradFill rotWithShape="1">
            <a:gsLst>
              <a:gs pos="0">
                <a:srgbClr val="E2E4EA">
                  <a:alpha val="100000"/>
                </a:srgbClr>
              </a:gs>
              <a:gs pos="100000">
                <a:srgbClr val="E2E4EA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1238250" y="1301750"/>
            <a:ext cx="173926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Urgência é exceção — e tem custo de fila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238250" y="2416175"/>
            <a:ext cx="4794250" cy="2095500"/>
          </a:xfrm>
          <a:prstGeom prst="roundRect">
            <a:avLst>
              <a:gd name="adj" fmla="val 7273"/>
            </a:avLst>
          </a:prstGeom>
          <a:solidFill>
            <a:srgbClr val="FBE9ED"/>
          </a:solidFill>
          <a:ln w="6350">
            <a:solidFill>
              <a:srgbClr val="EAB8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30350" y="2746375"/>
            <a:ext cx="4631055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431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PASSO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30350" y="3076575"/>
            <a:ext cx="463105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Sinalizar no card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530350" y="3482975"/>
            <a:ext cx="4336352" cy="562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Solicitante marca "urgente" no Adaptive Card de abertura.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5994400" y="3260725"/>
            <a:ext cx="552450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EAB8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508750" y="2416175"/>
            <a:ext cx="4794250" cy="2095500"/>
          </a:xfrm>
          <a:prstGeom prst="roundRect">
            <a:avLst>
              <a:gd name="adj" fmla="val 7273"/>
            </a:avLst>
          </a:prstGeom>
          <a:solidFill>
            <a:srgbClr val="FBE9ED"/>
          </a:solidFill>
          <a:ln w="6350">
            <a:solidFill>
              <a:srgbClr val="EAB8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00850" y="2746375"/>
            <a:ext cx="4631055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431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PASSO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00850" y="3076575"/>
            <a:ext cx="463105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Validar via Teams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6800850" y="3482975"/>
            <a:ext cx="4336352" cy="562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Validação obrigatória com a equipe de Comunicação no Teams.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1264901" y="3260725"/>
            <a:ext cx="552450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EAB8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1779251" y="2416175"/>
            <a:ext cx="5270500" cy="2095500"/>
          </a:xfrm>
          <a:prstGeom prst="roundRect">
            <a:avLst>
              <a:gd name="adj" fmla="val 7273"/>
            </a:avLst>
          </a:prstGeom>
          <a:solidFill>
            <a:srgbClr val="FBE9ED"/>
          </a:solidFill>
          <a:ln w="6350">
            <a:solidFill>
              <a:srgbClr val="EAB8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1350" y="2746375"/>
            <a:ext cx="515493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431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PASSO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071350" y="3076575"/>
            <a:ext cx="515493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Repriorizar a fila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2071350" y="3482975"/>
            <a:ext cx="4826889" cy="562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hook:urgent move o chamado ao topo e recalcula os demais.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1238250" y="4930775"/>
            <a:ext cx="15811500" cy="736600"/>
          </a:xfrm>
          <a:prstGeom prst="roundRect">
            <a:avLst>
              <a:gd name="adj" fmla="val 18103"/>
            </a:avLst>
          </a:prstGeom>
          <a:solidFill>
            <a:srgbClr val="FBF0E1"/>
          </a:solidFill>
          <a:ln w="6350">
            <a:solidFill>
              <a:srgbClr val="ECCF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49400" y="5165725"/>
            <a:ext cx="156635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B85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Atenção: </a:t>
            </a:r>
            <a:pPr algn="l" indent="0" marL="0">
              <a:buNone/>
            </a:pPr>
            <a:r>
              <a:rPr lang="en-US" sz="1575" dirty="0">
                <a:solidFill>
                  <a:srgbClr val="B85C00"/>
                </a:solidFill>
                <a:highlight>
                  <a:srgbClr val="FBF0E1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priorizar uma urgência empurra o cronograma das demais demandas da mesma área. O bot registra o trade-off no log.</a:t>
            </a:r>
            <a:endParaRPr lang="en-US" sz="15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14400"/>
            <a:ext cx="3048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6F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619250" y="914400"/>
            <a:ext cx="416819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8A8F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DE CONFIGURAÇÃO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560913" y="1031875"/>
            <a:ext cx="11488837" cy="19050"/>
          </a:xfrm>
          <a:prstGeom prst="rect">
            <a:avLst/>
          </a:prstGeom>
          <a:gradFill rotWithShape="1">
            <a:gsLst>
              <a:gs pos="0">
                <a:srgbClr val="3A3D52">
                  <a:alpha val="100000"/>
                </a:srgbClr>
              </a:gs>
              <a:gs pos="100000">
                <a:srgbClr val="3A3D52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1238250" y="1301750"/>
            <a:ext cx="17392650" cy="618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Implantação em seis movimentos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1238250" y="2338983"/>
            <a:ext cx="7715250" cy="1006277"/>
          </a:xfrm>
          <a:prstGeom prst="roundRect">
            <a:avLst>
              <a:gd name="adj" fmla="val 11359"/>
            </a:avLst>
          </a:prstGeom>
          <a:solidFill>
            <a:srgbClr val="2D3042"/>
          </a:solidFill>
          <a:ln w="6350">
            <a:solidFill>
              <a:srgbClr val="3A3D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2250" y="2554883"/>
            <a:ext cx="4953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6F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2101850" y="2554883"/>
            <a:ext cx="5401806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Canal &amp; app no Teams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2101850" y="2894608"/>
            <a:ext cx="5401806" cy="272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AEB3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Crie o time "Mendas Studio · Chamados" e fixe o app do bot na guia.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9334500" y="2338983"/>
            <a:ext cx="7715250" cy="1006277"/>
          </a:xfrm>
          <a:prstGeom prst="roundRect">
            <a:avLst>
              <a:gd name="adj" fmla="val 11359"/>
            </a:avLst>
          </a:prstGeom>
          <a:solidFill>
            <a:srgbClr val="2D3042"/>
          </a:solidFill>
          <a:ln w="6350">
            <a:solidFill>
              <a:srgbClr val="3A3D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88500" y="2554883"/>
            <a:ext cx="4953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6F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0198101" y="2554883"/>
            <a:ext cx="580202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Adaptive Card de intake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10198101" y="2894608"/>
            <a:ext cx="5802025" cy="272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AEB3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Modele o card com título, categoria, concessão, canal, briefing e urgência.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1238250" y="3516709"/>
            <a:ext cx="7715250" cy="1006277"/>
          </a:xfrm>
          <a:prstGeom prst="roundRect">
            <a:avLst>
              <a:gd name="adj" fmla="val 11359"/>
            </a:avLst>
          </a:prstGeom>
          <a:solidFill>
            <a:srgbClr val="2D3042"/>
          </a:solidFill>
          <a:ln w="6350">
            <a:solidFill>
              <a:srgbClr val="3A3D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92250" y="3732609"/>
            <a:ext cx="4953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6F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2101850" y="3732609"/>
            <a:ext cx="4931956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Fluxos de hook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2101850" y="4072335"/>
            <a:ext cx="4931956" cy="272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AEB3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Crie no Power Automate os 8 fluxos, um por gatilho de evento.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9334500" y="3516709"/>
            <a:ext cx="7715250" cy="1006277"/>
          </a:xfrm>
          <a:prstGeom prst="roundRect">
            <a:avLst>
              <a:gd name="adj" fmla="val 11359"/>
            </a:avLst>
          </a:prstGeom>
          <a:solidFill>
            <a:srgbClr val="2D3042"/>
          </a:solidFill>
          <a:ln w="6350">
            <a:solidFill>
              <a:srgbClr val="3A3D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88500" y="3732609"/>
            <a:ext cx="4953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6F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0198101" y="3732609"/>
            <a:ext cx="519269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Planner &amp; categorias</a:t>
            </a:r>
            <a:endParaRPr lang="en-US" sz="1725" dirty="0"/>
          </a:p>
        </p:txBody>
      </p:sp>
      <p:sp>
        <p:nvSpPr>
          <p:cNvPr id="21" name="Text 19"/>
          <p:cNvSpPr/>
          <p:nvPr/>
        </p:nvSpPr>
        <p:spPr>
          <a:xfrm>
            <a:off x="10198101" y="4072335"/>
            <a:ext cx="5192693" cy="272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AEB3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o plano, os buckets da esteira e as etiquetas de esforço.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1238250" y="4694436"/>
            <a:ext cx="7715250" cy="1006277"/>
          </a:xfrm>
          <a:prstGeom prst="roundRect">
            <a:avLst>
              <a:gd name="adj" fmla="val 11359"/>
            </a:avLst>
          </a:prstGeom>
          <a:solidFill>
            <a:srgbClr val="2D3042"/>
          </a:solidFill>
          <a:ln w="6350">
            <a:solidFill>
              <a:srgbClr val="3A3D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2250" y="4910336"/>
            <a:ext cx="4953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6F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2101850" y="4910336"/>
            <a:ext cx="5762516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Lists editorial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2101850" y="5250061"/>
            <a:ext cx="5762516" cy="272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AEB3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Monte a lista do calendário e a automação hook:done de criação de card.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9334500" y="4694436"/>
            <a:ext cx="7715250" cy="1006277"/>
          </a:xfrm>
          <a:prstGeom prst="roundRect">
            <a:avLst>
              <a:gd name="adj" fmla="val 11359"/>
            </a:avLst>
          </a:prstGeom>
          <a:solidFill>
            <a:srgbClr val="2D3042"/>
          </a:solidFill>
          <a:ln w="6350">
            <a:solidFill>
              <a:srgbClr val="3A3D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88500" y="4910336"/>
            <a:ext cx="4953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6F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0198101" y="4910336"/>
            <a:ext cx="553943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Piloto &amp; go-live</a:t>
            </a:r>
            <a:endParaRPr lang="en-US" sz="1725" dirty="0"/>
          </a:p>
        </p:txBody>
      </p:sp>
      <p:sp>
        <p:nvSpPr>
          <p:cNvPr id="29" name="Text 27"/>
          <p:cNvSpPr/>
          <p:nvPr/>
        </p:nvSpPr>
        <p:spPr>
          <a:xfrm>
            <a:off x="10198101" y="5250061"/>
            <a:ext cx="5539433" cy="272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AEB3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Rode 1 semana com uma concessão, calibre SLA e libere para o grupo.</a:t>
            </a:r>
            <a:endParaRPr lang="en-US" sz="12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B5F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906500" y="6477000"/>
            <a:ext cx="5715000" cy="5715000"/>
          </a:xfrm>
          <a:prstGeom prst="ellipse">
            <a:avLst/>
          </a:prstGeom>
          <a:ln w="190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8250" y="914400"/>
            <a:ext cx="3048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19250" y="914400"/>
            <a:ext cx="469817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FFFFFF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· 5 CICLOS × 10 SPRINTS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42720" y="1031875"/>
            <a:ext cx="11007030" cy="19050"/>
          </a:xfrm>
          <a:prstGeom prst="rect">
            <a:avLst/>
          </a:prstGeom>
          <a:gradFill rotWithShape="1">
            <a:gsLst>
              <a:gs pos="0">
                <a:srgbClr val="FFFFFF">
                  <a:alpha val="30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1238250" y="1301750"/>
            <a:ext cx="173926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sprints, 5 camadas funcionais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1238250" y="2035175"/>
            <a:ext cx="7541503" cy="622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FFFFF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ciclo entrega uma parte navegável do sistema. Ao fim do Ciclo 5, o bot de hooks opera o chamado de ponta a ponta.</a:t>
            </a:r>
            <a:endParaRPr lang="en-US" sz="1725" dirty="0"/>
          </a:p>
        </p:txBody>
      </p:sp>
      <p:sp>
        <p:nvSpPr>
          <p:cNvPr id="8" name="Shape 6"/>
          <p:cNvSpPr/>
          <p:nvPr/>
        </p:nvSpPr>
        <p:spPr>
          <a:xfrm>
            <a:off x="1238250" y="3076575"/>
            <a:ext cx="3040360" cy="2857500"/>
          </a:xfrm>
          <a:prstGeom prst="roundRect">
            <a:avLst>
              <a:gd name="adj" fmla="val 466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238250" y="5927725"/>
            <a:ext cx="3040360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238250" y="3076575"/>
            <a:ext cx="3040360" cy="38100"/>
          </a:xfrm>
          <a:prstGeom prst="rect">
            <a:avLst/>
          </a:prstGeom>
          <a:solidFill>
            <a:srgbClr val="5B5FC7"/>
          </a:solidFill>
          <a:ln/>
        </p:spPr>
      </p:sp>
      <p:sp>
        <p:nvSpPr>
          <p:cNvPr id="11" name="Shape 9"/>
          <p:cNvSpPr/>
          <p:nvPr/>
        </p:nvSpPr>
        <p:spPr>
          <a:xfrm>
            <a:off x="1238250" y="3076575"/>
            <a:ext cx="9525" cy="28575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272260" y="3076575"/>
            <a:ext cx="9525" cy="28575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454150" y="3381375"/>
            <a:ext cx="286941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CICLO 1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454150" y="3648075"/>
            <a:ext cx="2869416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Fundação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454150" y="4055269"/>
            <a:ext cx="2869416" cy="2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>
                    <a:alpha val="82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no Teams, intake bot e SSOT.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54150" y="4447679"/>
            <a:ext cx="286941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sprints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4431010" y="3076575"/>
            <a:ext cx="3040459" cy="2857500"/>
          </a:xfrm>
          <a:prstGeom prst="roundRect">
            <a:avLst>
              <a:gd name="adj" fmla="val 466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431010" y="5927725"/>
            <a:ext cx="3040459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431010" y="3076575"/>
            <a:ext cx="3040459" cy="38100"/>
          </a:xfrm>
          <a:prstGeom prst="rect">
            <a:avLst/>
          </a:prstGeom>
          <a:solidFill>
            <a:srgbClr val="C8791A"/>
          </a:solidFill>
          <a:ln/>
        </p:spPr>
      </p:sp>
      <p:sp>
        <p:nvSpPr>
          <p:cNvPr id="20" name="Shape 18"/>
          <p:cNvSpPr/>
          <p:nvPr/>
        </p:nvSpPr>
        <p:spPr>
          <a:xfrm>
            <a:off x="4431010" y="3076575"/>
            <a:ext cx="9525" cy="28575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465120" y="3076575"/>
            <a:ext cx="9525" cy="28575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646910" y="3381375"/>
            <a:ext cx="28695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CICLO 2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4646910" y="3648075"/>
            <a:ext cx="2869525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Engine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4646910" y="4055269"/>
            <a:ext cx="2869525" cy="2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>
                    <a:alpha val="82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Categorias, timers e corte das 16h.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46910" y="4447679"/>
            <a:ext cx="286952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sprints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7623870" y="3076575"/>
            <a:ext cx="3040360" cy="2857500"/>
          </a:xfrm>
          <a:prstGeom prst="roundRect">
            <a:avLst>
              <a:gd name="adj" fmla="val 466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623870" y="5927725"/>
            <a:ext cx="3040360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623870" y="3076575"/>
            <a:ext cx="3040360" cy="38100"/>
          </a:xfrm>
          <a:prstGeom prst="rect">
            <a:avLst/>
          </a:prstGeom>
          <a:solidFill>
            <a:srgbClr val="9061D6"/>
          </a:solidFill>
          <a:ln/>
        </p:spPr>
      </p:sp>
      <p:sp>
        <p:nvSpPr>
          <p:cNvPr id="29" name="Shape 27"/>
          <p:cNvSpPr/>
          <p:nvPr/>
        </p:nvSpPr>
        <p:spPr>
          <a:xfrm>
            <a:off x="7623870" y="3076575"/>
            <a:ext cx="9525" cy="28575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657880" y="3076575"/>
            <a:ext cx="9525" cy="28575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839770" y="3381375"/>
            <a:ext cx="286941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CICLO 3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7839770" y="3648075"/>
            <a:ext cx="2869416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Esteira &amp; Aprovação</a:t>
            </a:r>
            <a:endParaRPr lang="en-US" sz="1875" dirty="0"/>
          </a:p>
        </p:txBody>
      </p:sp>
      <p:sp>
        <p:nvSpPr>
          <p:cNvPr id="33" name="Text 31"/>
          <p:cNvSpPr/>
          <p:nvPr/>
        </p:nvSpPr>
        <p:spPr>
          <a:xfrm>
            <a:off x="7839770" y="4055269"/>
            <a:ext cx="2869416" cy="2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>
                    <a:alpha val="82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Planner, On Hold e ciclo de ajustes.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839770" y="4447679"/>
            <a:ext cx="286941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sprints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10816630" y="3076575"/>
            <a:ext cx="3040360" cy="2857500"/>
          </a:xfrm>
          <a:prstGeom prst="roundRect">
            <a:avLst>
              <a:gd name="adj" fmla="val 466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816630" y="5927725"/>
            <a:ext cx="3040360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816630" y="3076575"/>
            <a:ext cx="3040360" cy="3810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38" name="Shape 36"/>
          <p:cNvSpPr/>
          <p:nvPr/>
        </p:nvSpPr>
        <p:spPr>
          <a:xfrm>
            <a:off x="10816630" y="3076575"/>
            <a:ext cx="9525" cy="28575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3850641" y="3076575"/>
            <a:ext cx="9525" cy="28575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1032530" y="3381375"/>
            <a:ext cx="286941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CICLO 4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11032530" y="3648075"/>
            <a:ext cx="2869416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Conclusão &amp; Vitrine</a:t>
            </a:r>
            <a:endParaRPr lang="en-US" sz="1875" dirty="0"/>
          </a:p>
        </p:txBody>
      </p:sp>
      <p:sp>
        <p:nvSpPr>
          <p:cNvPr id="42" name="Text 40"/>
          <p:cNvSpPr/>
          <p:nvPr/>
        </p:nvSpPr>
        <p:spPr>
          <a:xfrm>
            <a:off x="11032530" y="4055269"/>
            <a:ext cx="2869416" cy="2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>
                    <a:alpha val="82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DoD e calendário editorial automático.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032530" y="4447679"/>
            <a:ext cx="286941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sprints</a:t>
            </a:r>
            <a:endParaRPr lang="en-US" sz="975" dirty="0"/>
          </a:p>
        </p:txBody>
      </p:sp>
      <p:sp>
        <p:nvSpPr>
          <p:cNvPr id="44" name="Shape 42"/>
          <p:cNvSpPr/>
          <p:nvPr/>
        </p:nvSpPr>
        <p:spPr>
          <a:xfrm>
            <a:off x="14009390" y="3076575"/>
            <a:ext cx="3040360" cy="2857500"/>
          </a:xfrm>
          <a:prstGeom prst="roundRect">
            <a:avLst>
              <a:gd name="adj" fmla="val 466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4009390" y="5927725"/>
            <a:ext cx="3040360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4009390" y="3076575"/>
            <a:ext cx="3040360" cy="38100"/>
          </a:xfrm>
          <a:prstGeom prst="rect">
            <a:avLst/>
          </a:prstGeom>
          <a:solidFill>
            <a:srgbClr val="C4314B"/>
          </a:solidFill>
          <a:ln/>
        </p:spPr>
      </p:sp>
      <p:sp>
        <p:nvSpPr>
          <p:cNvPr id="47" name="Shape 45"/>
          <p:cNvSpPr/>
          <p:nvPr/>
        </p:nvSpPr>
        <p:spPr>
          <a:xfrm>
            <a:off x="14009390" y="3076575"/>
            <a:ext cx="9525" cy="28575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7043401" y="3076575"/>
            <a:ext cx="9525" cy="28575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4225290" y="3381375"/>
            <a:ext cx="286941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CICLO 5</a:t>
            </a:r>
            <a:endParaRPr lang="en-US" sz="1125" dirty="0"/>
          </a:p>
        </p:txBody>
      </p:sp>
      <p:sp>
        <p:nvSpPr>
          <p:cNvPr id="50" name="Text 48"/>
          <p:cNvSpPr/>
          <p:nvPr/>
        </p:nvSpPr>
        <p:spPr>
          <a:xfrm>
            <a:off x="14225290" y="3648075"/>
            <a:ext cx="2869416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Inteligência &amp; Escala</a:t>
            </a:r>
            <a:endParaRPr lang="en-US" sz="1875" dirty="0"/>
          </a:p>
        </p:txBody>
      </p:sp>
      <p:sp>
        <p:nvSpPr>
          <p:cNvPr id="51" name="Text 49"/>
          <p:cNvSpPr/>
          <p:nvPr/>
        </p:nvSpPr>
        <p:spPr>
          <a:xfrm>
            <a:off x="14225290" y="4055269"/>
            <a:ext cx="2869416" cy="2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>
                    <a:alpha val="82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Urgências, métricas e governança.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4225290" y="4447679"/>
            <a:ext cx="286941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sprints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0363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B5FC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CICLO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369840" y="889000"/>
            <a:ext cx="139863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9AA0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FUNDAÇÃO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38250" y="1238250"/>
            <a:ext cx="17392650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no Teams, intake e SSOT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38250" y="1794470"/>
            <a:ext cx="173926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Meta: abrir um chamado válido pelo bot e vê-lo registrado.</a:t>
            </a:r>
            <a:endParaRPr lang="en-US" sz="1575" dirty="0"/>
          </a:p>
        </p:txBody>
      </p:sp>
      <p:sp>
        <p:nvSpPr>
          <p:cNvPr id="6" name="Shape 4"/>
          <p:cNvSpPr/>
          <p:nvPr/>
        </p:nvSpPr>
        <p:spPr>
          <a:xfrm>
            <a:off x="1238250" y="2867620"/>
            <a:ext cx="7715250" cy="9525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2546945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5FC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90700" y="2518370"/>
            <a:ext cx="312873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Provisionar time e canal no Teams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334500" y="2867620"/>
            <a:ext cx="7715250" cy="9525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0" name="Text 8"/>
          <p:cNvSpPr/>
          <p:nvPr/>
        </p:nvSpPr>
        <p:spPr>
          <a:xfrm>
            <a:off x="9334500" y="2546945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5FC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86950" y="2518370"/>
            <a:ext cx="396846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Definir papéis: solicitante, triador, produtor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238250" y="3451821"/>
            <a:ext cx="7715250" cy="9525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3131146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5FC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90700" y="3102571"/>
            <a:ext cx="345102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Modelar o Adaptive Card de abertura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334500" y="3451821"/>
            <a:ext cx="7715250" cy="9525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6" name="Text 14"/>
          <p:cNvSpPr/>
          <p:nvPr/>
        </p:nvSpPr>
        <p:spPr>
          <a:xfrm>
            <a:off x="9334500" y="3131146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5FC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86950" y="3102571"/>
            <a:ext cx="345877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Validação de briefing mínimo no card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238250" y="4036020"/>
            <a:ext cx="7715250" cy="9525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9" name="Text 17"/>
          <p:cNvSpPr/>
          <p:nvPr/>
        </p:nvSpPr>
        <p:spPr>
          <a:xfrm>
            <a:off x="1238250" y="3715345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5FC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90700" y="3686770"/>
            <a:ext cx="290488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Publicar o bot como app fixado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334500" y="4036020"/>
            <a:ext cx="7715250" cy="9525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22" name="Text 20"/>
          <p:cNvSpPr/>
          <p:nvPr/>
        </p:nvSpPr>
        <p:spPr>
          <a:xfrm>
            <a:off x="9334500" y="3715345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5FC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86950" y="3686770"/>
            <a:ext cx="329113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Mapear concessões e canais oficiais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238250" y="4620220"/>
            <a:ext cx="7715250" cy="9525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25" name="Text 23"/>
          <p:cNvSpPr/>
          <p:nvPr/>
        </p:nvSpPr>
        <p:spPr>
          <a:xfrm>
            <a:off x="1238250" y="4299545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5FC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90700" y="4270970"/>
            <a:ext cx="363558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hook:intake — receber e parsear o card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334500" y="4620220"/>
            <a:ext cx="7715250" cy="9525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28" name="Text 26"/>
          <p:cNvSpPr/>
          <p:nvPr/>
        </p:nvSpPr>
        <p:spPr>
          <a:xfrm>
            <a:off x="9334500" y="4299545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5FC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86950" y="4270970"/>
            <a:ext cx="392273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hook:register — criar registro do chamado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238250" y="5204421"/>
            <a:ext cx="7715250" cy="9525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31" name="Text 29"/>
          <p:cNvSpPr/>
          <p:nvPr/>
        </p:nvSpPr>
        <p:spPr>
          <a:xfrm>
            <a:off x="1238250" y="4883746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5FC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790700" y="4855171"/>
            <a:ext cx="3934411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Mensagem de confirmação com protocolo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334500" y="5204421"/>
            <a:ext cx="7715250" cy="9525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34" name="Text 32"/>
          <p:cNvSpPr/>
          <p:nvPr/>
        </p:nvSpPr>
        <p:spPr>
          <a:xfrm>
            <a:off x="9334500" y="4883746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5FC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S10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886950" y="4855171"/>
            <a:ext cx="3963769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 de ponta: abrir e registrar 1 chamado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0363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879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CICLO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369840" y="889000"/>
            <a:ext cx="150112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9AA0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ENGINE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38250" y="1238250"/>
            <a:ext cx="17392650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Categorias, timers e corte 16h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38250" y="1794470"/>
            <a:ext cx="173926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Meta: cada chamado nasce com prazo correto e alertas automáticos.</a:t>
            </a:r>
            <a:endParaRPr lang="en-US" sz="1575" dirty="0"/>
          </a:p>
        </p:txBody>
      </p:sp>
      <p:sp>
        <p:nvSpPr>
          <p:cNvPr id="6" name="Shape 4"/>
          <p:cNvSpPr/>
          <p:nvPr/>
        </p:nvSpPr>
        <p:spPr>
          <a:xfrm>
            <a:off x="1238250" y="2867620"/>
            <a:ext cx="7715250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2546945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79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90700" y="2518370"/>
            <a:ext cx="333577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Cadastrar as 5 categorias de esforço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334500" y="2867620"/>
            <a:ext cx="7715250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10" name="Text 8"/>
          <p:cNvSpPr/>
          <p:nvPr/>
        </p:nvSpPr>
        <p:spPr>
          <a:xfrm>
            <a:off x="9334500" y="2546945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79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86950" y="2518370"/>
            <a:ext cx="4281259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Mapear cada categoria ao prazo (2/3/5/10/15)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238250" y="3451821"/>
            <a:ext cx="7715250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3131146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79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90700" y="3102571"/>
            <a:ext cx="368655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hook:sla — iniciar contagem no registro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334500" y="3451821"/>
            <a:ext cx="7715250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16" name="Text 14"/>
          <p:cNvSpPr/>
          <p:nvPr/>
        </p:nvSpPr>
        <p:spPr>
          <a:xfrm>
            <a:off x="9334500" y="3131146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79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86950" y="3102571"/>
            <a:ext cx="365948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Regra de corte às 16h / próximo dia útil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238250" y="4036020"/>
            <a:ext cx="7715250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19" name="Text 17"/>
          <p:cNvSpPr/>
          <p:nvPr/>
        </p:nvSpPr>
        <p:spPr>
          <a:xfrm>
            <a:off x="1238250" y="3715345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79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90700" y="3686770"/>
            <a:ext cx="317031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Calendário de dias úteis e feriados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334500" y="4036020"/>
            <a:ext cx="7715250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22" name="Text 20"/>
          <p:cNvSpPr/>
          <p:nvPr/>
        </p:nvSpPr>
        <p:spPr>
          <a:xfrm>
            <a:off x="9334500" y="3715345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79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86950" y="3686770"/>
            <a:ext cx="2535228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Alertas D-2 e D-1 no Teams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238250" y="4620220"/>
            <a:ext cx="7715250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25" name="Text 23"/>
          <p:cNvSpPr/>
          <p:nvPr/>
        </p:nvSpPr>
        <p:spPr>
          <a:xfrm>
            <a:off x="1238250" y="4299545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79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90700" y="4270970"/>
            <a:ext cx="246832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Alerta de estouro de prazo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334500" y="4620220"/>
            <a:ext cx="7715250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28" name="Text 26"/>
          <p:cNvSpPr/>
          <p:nvPr/>
        </p:nvSpPr>
        <p:spPr>
          <a:xfrm>
            <a:off x="9334500" y="4299545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79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86950" y="4270970"/>
            <a:ext cx="253446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Painel de SLA por chamado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238250" y="5204421"/>
            <a:ext cx="7715250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31" name="Text 29"/>
          <p:cNvSpPr/>
          <p:nvPr/>
        </p:nvSpPr>
        <p:spPr>
          <a:xfrm>
            <a:off x="1238250" y="4883746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79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790700" y="4855171"/>
            <a:ext cx="3685461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Estimativa de prazo no card de abertura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334500" y="5204421"/>
            <a:ext cx="7715250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34" name="Text 32"/>
          <p:cNvSpPr/>
          <p:nvPr/>
        </p:nvSpPr>
        <p:spPr>
          <a:xfrm>
            <a:off x="9334500" y="4883746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79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S10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886950" y="4855171"/>
            <a:ext cx="417266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Teste: prazos corretos em todas as categorias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0363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06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CICLO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369840" y="889000"/>
            <a:ext cx="292387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9AA0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ESTEIRA &amp; APROVAÇÃO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38250" y="1238250"/>
            <a:ext cx="17392650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Planner, On Hold e ajustes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38250" y="1794470"/>
            <a:ext cx="173926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Meta: o chamado percorre a esteira com regras de prazo aplicadas.</a:t>
            </a:r>
            <a:endParaRPr lang="en-US" sz="1575" dirty="0"/>
          </a:p>
        </p:txBody>
      </p:sp>
      <p:sp>
        <p:nvSpPr>
          <p:cNvPr id="6" name="Shape 4"/>
          <p:cNvSpPr/>
          <p:nvPr/>
        </p:nvSpPr>
        <p:spPr>
          <a:xfrm>
            <a:off x="1238250" y="2867620"/>
            <a:ext cx="7715250" cy="9525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2546945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06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90700" y="2518370"/>
            <a:ext cx="299929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Criar plano e buckets no Planner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334500" y="2867620"/>
            <a:ext cx="7715250" cy="9525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0" name="Text 8"/>
          <p:cNvSpPr/>
          <p:nvPr/>
        </p:nvSpPr>
        <p:spPr>
          <a:xfrm>
            <a:off x="9334500" y="2546945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06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86950" y="2518370"/>
            <a:ext cx="395034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hook:triagem — validar e devolver briefing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238250" y="3451821"/>
            <a:ext cx="7715250" cy="9525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3131146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06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90700" y="3102571"/>
            <a:ext cx="330914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Congelar SLA enquanto em triagem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334500" y="3451821"/>
            <a:ext cx="7715250" cy="9525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6" name="Text 14"/>
          <p:cNvSpPr/>
          <p:nvPr/>
        </p:nvSpPr>
        <p:spPr>
          <a:xfrm>
            <a:off x="9334500" y="3131146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06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86950" y="3102571"/>
            <a:ext cx="351880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Mover Triagem → Produção ao validar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238250" y="4036020"/>
            <a:ext cx="7715250" cy="9525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9" name="Text 17"/>
          <p:cNvSpPr/>
          <p:nvPr/>
        </p:nvSpPr>
        <p:spPr>
          <a:xfrm>
            <a:off x="1238250" y="3715345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06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90700" y="3686770"/>
            <a:ext cx="3114328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hook:approval — enviar 1ª versão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334500" y="4036020"/>
            <a:ext cx="7715250" cy="9525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22" name="Text 20"/>
          <p:cNvSpPr/>
          <p:nvPr/>
        </p:nvSpPr>
        <p:spPr>
          <a:xfrm>
            <a:off x="9334500" y="3715345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06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86950" y="3686770"/>
            <a:ext cx="377233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Janela de 24h para retorno do solicitante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238250" y="4620220"/>
            <a:ext cx="7715250" cy="9525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25" name="Text 23"/>
          <p:cNvSpPr/>
          <p:nvPr/>
        </p:nvSpPr>
        <p:spPr>
          <a:xfrm>
            <a:off x="1238250" y="4299545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06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90700" y="4270970"/>
            <a:ext cx="354761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Soma de dias por atraso de aprovação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334500" y="4620220"/>
            <a:ext cx="7715250" cy="9525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28" name="Text 26"/>
          <p:cNvSpPr/>
          <p:nvPr/>
        </p:nvSpPr>
        <p:spPr>
          <a:xfrm>
            <a:off x="9334500" y="4299545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06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86950" y="4270970"/>
            <a:ext cx="416513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Hold automático após 2 dias sem retorno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238250" y="5204421"/>
            <a:ext cx="7715250" cy="9525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31" name="Text 29"/>
          <p:cNvSpPr/>
          <p:nvPr/>
        </p:nvSpPr>
        <p:spPr>
          <a:xfrm>
            <a:off x="1238250" y="4883746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06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790700" y="4855171"/>
            <a:ext cx="352142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hook:adjust — ciclo de ajustes (2 dias)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334500" y="5204421"/>
            <a:ext cx="7715250" cy="9525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34" name="Text 32"/>
          <p:cNvSpPr/>
          <p:nvPr/>
        </p:nvSpPr>
        <p:spPr>
          <a:xfrm>
            <a:off x="9334500" y="4883746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06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S10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886950" y="4855171"/>
            <a:ext cx="289288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Teste: percorrer a esteira inteira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0363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CICLO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369840" y="889000"/>
            <a:ext cx="291034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9AA0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CONCLUSÃO &amp; VITRINE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38250" y="1238250"/>
            <a:ext cx="17392650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DoD e calendário editorial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38250" y="1794470"/>
            <a:ext cx="173926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Meta: concluir com checklist e gerar transparência sem esforço.</a:t>
            </a:r>
            <a:endParaRPr lang="en-US" sz="1575" dirty="0"/>
          </a:p>
        </p:txBody>
      </p:sp>
      <p:sp>
        <p:nvSpPr>
          <p:cNvPr id="6" name="Shape 4"/>
          <p:cNvSpPr/>
          <p:nvPr/>
        </p:nvSpPr>
        <p:spPr>
          <a:xfrm>
            <a:off x="1238250" y="2867620"/>
            <a:ext cx="7715250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2546945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90700" y="2518370"/>
            <a:ext cx="2907179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Definir o checklist DoD (5 itens)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334500" y="2867620"/>
            <a:ext cx="7715250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10" name="Text 8"/>
          <p:cNvSpPr/>
          <p:nvPr/>
        </p:nvSpPr>
        <p:spPr>
          <a:xfrm>
            <a:off x="9334500" y="2546945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86950" y="2518370"/>
            <a:ext cx="3591491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hook:done — bloquear baixa sem DoD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238250" y="3451821"/>
            <a:ext cx="7715250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3131146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90700" y="3102571"/>
            <a:ext cx="3855611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Repositórios oficiais de arquivos fechados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334500" y="3451821"/>
            <a:ext cx="7715250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16" name="Text 14"/>
          <p:cNvSpPr/>
          <p:nvPr/>
        </p:nvSpPr>
        <p:spPr>
          <a:xfrm>
            <a:off x="9334500" y="3131146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86950" y="3102571"/>
            <a:ext cx="339405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Confirmação de veiculação por canal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238250" y="4036020"/>
            <a:ext cx="7715250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19" name="Text 17"/>
          <p:cNvSpPr/>
          <p:nvPr/>
        </p:nvSpPr>
        <p:spPr>
          <a:xfrm>
            <a:off x="1238250" y="3715345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90700" y="3686770"/>
            <a:ext cx="283416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Marcar "Concluída" no Planner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334500" y="4036020"/>
            <a:ext cx="7715250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22" name="Text 20"/>
          <p:cNvSpPr/>
          <p:nvPr/>
        </p:nvSpPr>
        <p:spPr>
          <a:xfrm>
            <a:off x="9334500" y="3715345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86950" y="3686770"/>
            <a:ext cx="352862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Modelar a lista do Calendário Editorial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238250" y="4620220"/>
            <a:ext cx="7715250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25" name="Text 23"/>
          <p:cNvSpPr/>
          <p:nvPr/>
        </p:nvSpPr>
        <p:spPr>
          <a:xfrm>
            <a:off x="1238250" y="4299545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90700" y="4270970"/>
            <a:ext cx="385779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Geração automática de card na conclusão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334500" y="4620220"/>
            <a:ext cx="7715250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28" name="Text 26"/>
          <p:cNvSpPr/>
          <p:nvPr/>
        </p:nvSpPr>
        <p:spPr>
          <a:xfrm>
            <a:off x="9334500" y="4299545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86950" y="4270970"/>
            <a:ext cx="3862268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Campos: data, canal, categoria, concessão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238250" y="5204421"/>
            <a:ext cx="7715250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31" name="Text 29"/>
          <p:cNvSpPr/>
          <p:nvPr/>
        </p:nvSpPr>
        <p:spPr>
          <a:xfrm>
            <a:off x="1238250" y="4883746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790700" y="4855171"/>
            <a:ext cx="311694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de calendário para gestores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334500" y="5204421"/>
            <a:ext cx="7715250" cy="952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34" name="Text 32"/>
          <p:cNvSpPr/>
          <p:nvPr/>
        </p:nvSpPr>
        <p:spPr>
          <a:xfrm>
            <a:off x="9334500" y="4883746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S10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886950" y="4855171"/>
            <a:ext cx="272033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Teste: concluir e ver na vitrine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0363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31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CICLO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369840" y="889000"/>
            <a:ext cx="306783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9AA0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INTELIGÊNCIA &amp; ESCALA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38250" y="1238250"/>
            <a:ext cx="17392650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2325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Urgências, métricas e governança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38250" y="1794470"/>
            <a:ext cx="173926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E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Meta: operar em escala, medir o SLA e escalar para todo o Grupo.</a:t>
            </a:r>
            <a:endParaRPr lang="en-US" sz="1575" dirty="0"/>
          </a:p>
        </p:txBody>
      </p:sp>
      <p:sp>
        <p:nvSpPr>
          <p:cNvPr id="6" name="Shape 4"/>
          <p:cNvSpPr/>
          <p:nvPr/>
        </p:nvSpPr>
        <p:spPr>
          <a:xfrm>
            <a:off x="1238250" y="2867620"/>
            <a:ext cx="7715250" cy="9525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2546945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31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90700" y="2518370"/>
            <a:ext cx="2992199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hook:urgent — fluxo de exceção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334500" y="2867620"/>
            <a:ext cx="7715250" cy="9525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0" name="Text 8"/>
          <p:cNvSpPr/>
          <p:nvPr/>
        </p:nvSpPr>
        <p:spPr>
          <a:xfrm>
            <a:off x="9334500" y="2546945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31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86950" y="2518370"/>
            <a:ext cx="297157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Validação de urgência via Teams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238250" y="3451821"/>
            <a:ext cx="7715250" cy="9525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3131146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31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90700" y="3102571"/>
            <a:ext cx="291798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Repriorização e recálculo da fila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334500" y="3451821"/>
            <a:ext cx="7715250" cy="9525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6" name="Text 14"/>
          <p:cNvSpPr/>
          <p:nvPr/>
        </p:nvSpPr>
        <p:spPr>
          <a:xfrm>
            <a:off x="9334500" y="3131146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31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86950" y="3102571"/>
            <a:ext cx="384557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Métricas: SLA cumprido, tempo por etapa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238250" y="4036020"/>
            <a:ext cx="7715250" cy="9525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9" name="Text 17"/>
          <p:cNvSpPr/>
          <p:nvPr/>
        </p:nvSpPr>
        <p:spPr>
          <a:xfrm>
            <a:off x="1238250" y="3715345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31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90700" y="3686770"/>
            <a:ext cx="3986689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de volume por concessão/canal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334500" y="4036020"/>
            <a:ext cx="7715250" cy="9525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22" name="Text 20"/>
          <p:cNvSpPr/>
          <p:nvPr/>
        </p:nvSpPr>
        <p:spPr>
          <a:xfrm>
            <a:off x="9334500" y="3715345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31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86950" y="3686770"/>
            <a:ext cx="297353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Relatório de On Hold e gargalos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238250" y="4620220"/>
            <a:ext cx="7715250" cy="9525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25" name="Text 23"/>
          <p:cNvSpPr/>
          <p:nvPr/>
        </p:nvSpPr>
        <p:spPr>
          <a:xfrm>
            <a:off x="1238250" y="4299545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31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90700" y="4270970"/>
            <a:ext cx="418936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Governança: donos de hook e versionamento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334500" y="4620220"/>
            <a:ext cx="7715250" cy="9525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28" name="Text 26"/>
          <p:cNvSpPr/>
          <p:nvPr/>
        </p:nvSpPr>
        <p:spPr>
          <a:xfrm>
            <a:off x="9334500" y="4299545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31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86950" y="4270970"/>
            <a:ext cx="283307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Trilha de auditoria dos eventos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238250" y="5204421"/>
            <a:ext cx="7715250" cy="9525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31" name="Text 29"/>
          <p:cNvSpPr/>
          <p:nvPr/>
        </p:nvSpPr>
        <p:spPr>
          <a:xfrm>
            <a:off x="1238250" y="4883746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31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790700" y="4855171"/>
            <a:ext cx="331274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Onboarding das demais concessões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334500" y="5204421"/>
            <a:ext cx="7715250" cy="9525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34" name="Text 32"/>
          <p:cNvSpPr/>
          <p:nvPr/>
        </p:nvSpPr>
        <p:spPr>
          <a:xfrm>
            <a:off x="9334500" y="4883746"/>
            <a:ext cx="4762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31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S10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886950" y="4855171"/>
            <a:ext cx="372147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Go-live geral e revisão do procedimento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3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14400"/>
            <a:ext cx="3048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6F1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619250" y="914400"/>
            <a:ext cx="3624888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8A8F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PLAYBOOKS OPERACIONAIS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67002" y="1031875"/>
            <a:ext cx="11982748" cy="19050"/>
          </a:xfrm>
          <a:prstGeom prst="rect">
            <a:avLst/>
          </a:prstGeom>
          <a:gradFill rotWithShape="1">
            <a:gsLst>
              <a:gs pos="0">
                <a:srgbClr val="3A3D52">
                  <a:alpha val="100000"/>
                </a:srgbClr>
              </a:gs>
              <a:gs pos="100000">
                <a:srgbClr val="3A3D52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1238250" y="1301750"/>
            <a:ext cx="17392650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roteiro para cada situação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1238250" y="2280841"/>
            <a:ext cx="7810500" cy="1809750"/>
          </a:xfrm>
          <a:prstGeom prst="roundRect">
            <a:avLst>
              <a:gd name="adj" fmla="val 7368"/>
            </a:avLst>
          </a:prstGeom>
          <a:solidFill>
            <a:srgbClr val="2D3042"/>
          </a:solidFill>
          <a:ln/>
        </p:spPr>
      </p:sp>
      <p:sp>
        <p:nvSpPr>
          <p:cNvPr id="7" name="Shape 5"/>
          <p:cNvSpPr/>
          <p:nvPr/>
        </p:nvSpPr>
        <p:spPr>
          <a:xfrm>
            <a:off x="1238250" y="4084241"/>
            <a:ext cx="7810500" cy="9525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8" name="Shape 6"/>
          <p:cNvSpPr/>
          <p:nvPr/>
        </p:nvSpPr>
        <p:spPr>
          <a:xfrm>
            <a:off x="1238250" y="2280841"/>
            <a:ext cx="7810500" cy="9525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9" name="Shape 7"/>
          <p:cNvSpPr/>
          <p:nvPr/>
        </p:nvSpPr>
        <p:spPr>
          <a:xfrm>
            <a:off x="1238250" y="2280841"/>
            <a:ext cx="38100" cy="1809750"/>
          </a:xfrm>
          <a:prstGeom prst="rect">
            <a:avLst/>
          </a:prstGeom>
          <a:solidFill>
            <a:srgbClr val="8A8F9C"/>
          </a:solidFill>
          <a:ln/>
        </p:spPr>
      </p:sp>
      <p:sp>
        <p:nvSpPr>
          <p:cNvPr id="10" name="Shape 8"/>
          <p:cNvSpPr/>
          <p:nvPr/>
        </p:nvSpPr>
        <p:spPr>
          <a:xfrm>
            <a:off x="9042400" y="2280841"/>
            <a:ext cx="9525" cy="1809750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11" name="Text 9"/>
          <p:cNvSpPr/>
          <p:nvPr/>
        </p:nvSpPr>
        <p:spPr>
          <a:xfrm>
            <a:off x="1581150" y="2572941"/>
            <a:ext cx="787209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Briefing incompleto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581150" y="2941241"/>
            <a:ext cx="787209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F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hook:triagem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581150" y="3284141"/>
            <a:ext cx="737114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AEB3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Devolver pelo bot com os campos faltantes destacados. O SLA não inicia até o reenvio completo.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239250" y="2280841"/>
            <a:ext cx="7810500" cy="1809750"/>
          </a:xfrm>
          <a:prstGeom prst="roundRect">
            <a:avLst>
              <a:gd name="adj" fmla="val 7368"/>
            </a:avLst>
          </a:prstGeom>
          <a:solidFill>
            <a:srgbClr val="2D3042"/>
          </a:solidFill>
          <a:ln/>
        </p:spPr>
      </p:sp>
      <p:sp>
        <p:nvSpPr>
          <p:cNvPr id="15" name="Shape 13"/>
          <p:cNvSpPr/>
          <p:nvPr/>
        </p:nvSpPr>
        <p:spPr>
          <a:xfrm>
            <a:off x="9239250" y="4084241"/>
            <a:ext cx="7810500" cy="9525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16" name="Shape 14"/>
          <p:cNvSpPr/>
          <p:nvPr/>
        </p:nvSpPr>
        <p:spPr>
          <a:xfrm>
            <a:off x="9239250" y="2280841"/>
            <a:ext cx="7810500" cy="9525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17" name="Shape 15"/>
          <p:cNvSpPr/>
          <p:nvPr/>
        </p:nvSpPr>
        <p:spPr>
          <a:xfrm>
            <a:off x="9239250" y="2280841"/>
            <a:ext cx="38100" cy="1809750"/>
          </a:xfrm>
          <a:prstGeom prst="rect">
            <a:avLst/>
          </a:prstGeom>
          <a:solidFill>
            <a:srgbClr val="C4314B"/>
          </a:solidFill>
          <a:ln/>
        </p:spPr>
      </p:sp>
      <p:sp>
        <p:nvSpPr>
          <p:cNvPr id="18" name="Shape 16"/>
          <p:cNvSpPr/>
          <p:nvPr/>
        </p:nvSpPr>
        <p:spPr>
          <a:xfrm>
            <a:off x="17043400" y="2280841"/>
            <a:ext cx="9525" cy="1809750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19" name="Text 17"/>
          <p:cNvSpPr/>
          <p:nvPr/>
        </p:nvSpPr>
        <p:spPr>
          <a:xfrm>
            <a:off x="9582150" y="2572941"/>
            <a:ext cx="787209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Solicitante sumiu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9582150" y="2941241"/>
            <a:ext cx="787209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C431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hook:approval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9582150" y="3284141"/>
            <a:ext cx="787209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AEB3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Após 2 dias úteis sem retorno, mover para On Hold, notificar o gestor e liberar a vaga da fila.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238250" y="4281091"/>
            <a:ext cx="7810500" cy="1809750"/>
          </a:xfrm>
          <a:prstGeom prst="roundRect">
            <a:avLst>
              <a:gd name="adj" fmla="val 7368"/>
            </a:avLst>
          </a:prstGeom>
          <a:solidFill>
            <a:srgbClr val="2D3042"/>
          </a:solidFill>
          <a:ln/>
        </p:spPr>
      </p:sp>
      <p:sp>
        <p:nvSpPr>
          <p:cNvPr id="23" name="Shape 21"/>
          <p:cNvSpPr/>
          <p:nvPr/>
        </p:nvSpPr>
        <p:spPr>
          <a:xfrm>
            <a:off x="1238250" y="6084491"/>
            <a:ext cx="7810500" cy="9525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24" name="Shape 22"/>
          <p:cNvSpPr/>
          <p:nvPr/>
        </p:nvSpPr>
        <p:spPr>
          <a:xfrm>
            <a:off x="1238250" y="4281091"/>
            <a:ext cx="7810500" cy="9525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25" name="Shape 23"/>
          <p:cNvSpPr/>
          <p:nvPr/>
        </p:nvSpPr>
        <p:spPr>
          <a:xfrm>
            <a:off x="1238250" y="4281091"/>
            <a:ext cx="38100" cy="1809750"/>
          </a:xfrm>
          <a:prstGeom prst="rect">
            <a:avLst/>
          </a:prstGeom>
          <a:solidFill>
            <a:srgbClr val="C8791A"/>
          </a:solidFill>
          <a:ln/>
        </p:spPr>
      </p:sp>
      <p:sp>
        <p:nvSpPr>
          <p:cNvPr id="26" name="Shape 24"/>
          <p:cNvSpPr/>
          <p:nvPr/>
        </p:nvSpPr>
        <p:spPr>
          <a:xfrm>
            <a:off x="9042400" y="4281091"/>
            <a:ext cx="9525" cy="1809750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27" name="Text 25"/>
          <p:cNvSpPr/>
          <p:nvPr/>
        </p:nvSpPr>
        <p:spPr>
          <a:xfrm>
            <a:off x="1581150" y="4573191"/>
            <a:ext cx="787209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Urgência real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581150" y="4941491"/>
            <a:ext cx="787209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C879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hook:urgent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1581150" y="5284391"/>
            <a:ext cx="737114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AEB3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Validar via Teams, repriorizar e comunicar o impacto no cronograma das outras demandas da área.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9239250" y="4281091"/>
            <a:ext cx="7810500" cy="1809750"/>
          </a:xfrm>
          <a:prstGeom prst="roundRect">
            <a:avLst>
              <a:gd name="adj" fmla="val 7368"/>
            </a:avLst>
          </a:prstGeom>
          <a:solidFill>
            <a:srgbClr val="2D3042"/>
          </a:solidFill>
          <a:ln/>
        </p:spPr>
      </p:sp>
      <p:sp>
        <p:nvSpPr>
          <p:cNvPr id="31" name="Shape 29"/>
          <p:cNvSpPr/>
          <p:nvPr/>
        </p:nvSpPr>
        <p:spPr>
          <a:xfrm>
            <a:off x="9239250" y="6084491"/>
            <a:ext cx="7810500" cy="9525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32" name="Shape 30"/>
          <p:cNvSpPr/>
          <p:nvPr/>
        </p:nvSpPr>
        <p:spPr>
          <a:xfrm>
            <a:off x="9239250" y="4281091"/>
            <a:ext cx="7810500" cy="9525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33" name="Shape 31"/>
          <p:cNvSpPr/>
          <p:nvPr/>
        </p:nvSpPr>
        <p:spPr>
          <a:xfrm>
            <a:off x="9239250" y="4281091"/>
            <a:ext cx="38100" cy="180975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34" name="Shape 32"/>
          <p:cNvSpPr/>
          <p:nvPr/>
        </p:nvSpPr>
        <p:spPr>
          <a:xfrm>
            <a:off x="17043400" y="4281091"/>
            <a:ext cx="9525" cy="1809750"/>
          </a:xfrm>
          <a:prstGeom prst="rect">
            <a:avLst/>
          </a:prstGeom>
          <a:solidFill>
            <a:srgbClr val="3A3D52"/>
          </a:solidFill>
          <a:ln/>
        </p:spPr>
      </p:sp>
      <p:sp>
        <p:nvSpPr>
          <p:cNvPr id="35" name="Text 33"/>
          <p:cNvSpPr/>
          <p:nvPr/>
        </p:nvSpPr>
        <p:spPr>
          <a:xfrm>
            <a:off x="9582150" y="4573191"/>
            <a:ext cx="787209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Fechamento &amp; vitrine</a:t>
            </a:r>
            <a:endParaRPr lang="en-US" sz="1875" dirty="0"/>
          </a:p>
        </p:txBody>
      </p:sp>
      <p:sp>
        <p:nvSpPr>
          <p:cNvPr id="36" name="Text 34"/>
          <p:cNvSpPr/>
          <p:nvPr/>
        </p:nvSpPr>
        <p:spPr>
          <a:xfrm>
            <a:off x="9582150" y="4941491"/>
            <a:ext cx="787209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F8A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hook:done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9582150" y="5284391"/>
            <a:ext cx="787209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AEB3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Rodar o checklist DoD, fechar no Planner e conferir o card gerado no Calendário Editorial.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5B5F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0" y="-1524000"/>
            <a:ext cx="6096000" cy="6096000"/>
          </a:xfrm>
          <a:prstGeom prst="ellipse">
            <a:avLst/>
          </a:prstGeom>
          <a:ln w="190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8250" y="2660452"/>
            <a:ext cx="1739265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450" kern="0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MENDAS STUDIO · CENTRAL DE CHAMADOS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38250" y="3143052"/>
            <a:ext cx="10428419" cy="2486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chamado entra no Teams e sai como vitrine — sozinho.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1238250" y="5915124"/>
            <a:ext cx="856754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 passo: piloto de uma semana com uma concessão, calibrar os SLAs reais e liberar o bot para todo o Grupo.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238250" y="7124799"/>
            <a:ext cx="1136452" cy="50165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2250" y="7254974"/>
            <a:ext cx="704652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hooks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2508052" y="7124799"/>
            <a:ext cx="2078732" cy="50165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62052" y="7254974"/>
            <a:ext cx="1646932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categorias de SLA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4720134" y="7124799"/>
            <a:ext cx="2090936" cy="50165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74134" y="7254974"/>
            <a:ext cx="1659136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ciclos × 10 sprints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2026-06-17T23:12:42Z</dcterms:created>
  <dcterms:modified xsi:type="dcterms:W3CDTF">2026-06-17T23:12:42Z</dcterms:modified>
</cp:coreProperties>
</file>